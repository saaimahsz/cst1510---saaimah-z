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21"/>
  </p:notesMasterIdLst>
  <p:sldIdLst>
    <p:sldId id="300" r:id="rId2"/>
    <p:sldId id="301" r:id="rId3"/>
    <p:sldId id="310" r:id="rId4"/>
    <p:sldId id="276" r:id="rId5"/>
    <p:sldId id="312" r:id="rId6"/>
    <p:sldId id="286" r:id="rId7"/>
    <p:sldId id="303" r:id="rId8"/>
    <p:sldId id="304" r:id="rId9"/>
    <p:sldId id="270" r:id="rId10"/>
    <p:sldId id="269" r:id="rId11"/>
    <p:sldId id="305" r:id="rId12"/>
    <p:sldId id="306" r:id="rId13"/>
    <p:sldId id="307" r:id="rId14"/>
    <p:sldId id="318" r:id="rId15"/>
    <p:sldId id="314" r:id="rId16"/>
    <p:sldId id="322" r:id="rId17"/>
    <p:sldId id="313" r:id="rId18"/>
    <p:sldId id="317" r:id="rId19"/>
    <p:sldId id="309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21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0683"/>
    <p:restoredTop sz="94584"/>
  </p:normalViewPr>
  <p:slideViewPr>
    <p:cSldViewPr snapToGrid="0" snapToObjects="1">
      <p:cViewPr varScale="1">
        <p:scale>
          <a:sx n="83" d="100"/>
          <a:sy n="83" d="100"/>
        </p:scale>
        <p:origin x="208" y="10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131229-A314-0C4C-BF61-3C61343D695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7DC8A-1748-C749-BA35-5E2BA12DC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65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week, download the new week folder from Moodle and place it inside CST1510, next to the previous weeks. Topic folders 01-04 are the workshop topics, each with examples and a walkthrough notebook. DEMO holds the running demo. LAB holds the warm-up broken files, the mini-project template and the lab notebook. Read README first; EXTRA_PROJECTS is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left to right. Online session is for catch-up and updates. The workshop opens with the running demo before any explanation, then four short topics, each followed by a 'your turn'. The lab starts with three broken files, then the notebook drills, the tiered mini-project and the handwritten journal entry. The week ends with pushing lab work to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1" name="TitleRule"/>
          <p:cNvSpPr/>
          <p:nvPr/>
        </p:nvSpPr>
        <p:spPr>
          <a:xfrm>
            <a:off x="457200" y="1200150"/>
            <a:ext cx="8229600" cy="1905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3" name="FooterRule"/>
          <p:cNvSpPr/>
          <p:nvPr/>
        </p:nvSpPr>
        <p:spPr>
          <a:xfrm>
            <a:off x="457200" y="4610100"/>
            <a:ext cx="8229600" cy="9525"/>
          </a:xfrm>
          <a:prstGeom prst="rect">
            <a:avLst/>
          </a:prstGeom>
          <a:solidFill>
            <a:srgbClr val="DED8C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4" name="FooterText"/>
          <p:cNvSpPr txBox="1"/>
          <p:nvPr/>
        </p:nvSpPr>
        <p:spPr>
          <a:xfrm>
            <a:off x="457200" y="4660900"/>
            <a:ext cx="5486400" cy="1905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GB" sz="900" dirty="0">
                <a:solidFill>
                  <a:srgbClr val="8A857C"/>
                </a:solidFill>
                <a:latin typeface="Calibri"/>
              </a:rPr>
              <a:t>CST1510 Programming for Data Communication and Networks</a:t>
            </a:r>
          </a:p>
        </p:txBody>
      </p:sp>
      <p:sp>
        <p:nvSpPr>
          <p:cNvPr id="95" name="FooterNum"/>
          <p:cNvSpPr txBox="1"/>
          <p:nvPr/>
        </p:nvSpPr>
        <p:spPr>
          <a:xfrm>
            <a:off x="7772400" y="4660900"/>
            <a:ext cx="914400" cy="1905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fld id="{B2B3A1C4-0000-4E3E-9A11-0F1A2B3C4D5E}" type="slidenum">
              <a:rPr lang="en-GB" sz="900" dirty="0">
                <a:solidFill>
                  <a:srgbClr val="8A857C"/>
                </a:solidFill>
                <a:latin typeface="Calibri"/>
              </a:rPr>
              <a:t>‹#›</a:t>
            </a:fld>
            <a:endParaRPr lang="en-GB" sz="900" dirty="0">
              <a:solidFill>
                <a:srgbClr val="8A857C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1" name="TitleRule"/>
          <p:cNvSpPr/>
          <p:nvPr/>
        </p:nvSpPr>
        <p:spPr>
          <a:xfrm>
            <a:off x="457200" y="1200150"/>
            <a:ext cx="8229600" cy="1905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3" name="FooterRule"/>
          <p:cNvSpPr/>
          <p:nvPr/>
        </p:nvSpPr>
        <p:spPr>
          <a:xfrm>
            <a:off x="457200" y="4610100"/>
            <a:ext cx="8229600" cy="9525"/>
          </a:xfrm>
          <a:prstGeom prst="rect">
            <a:avLst/>
          </a:prstGeom>
          <a:solidFill>
            <a:srgbClr val="DED8C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4" name="FooterText"/>
          <p:cNvSpPr txBox="1"/>
          <p:nvPr/>
        </p:nvSpPr>
        <p:spPr>
          <a:xfrm>
            <a:off x="457200" y="4660900"/>
            <a:ext cx="5486400" cy="1905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GB" sz="900" dirty="0">
                <a:solidFill>
                  <a:srgbClr val="8A857C"/>
                </a:solidFill>
                <a:latin typeface="Calibri"/>
              </a:rPr>
              <a:t>CST1510 Programming for Data Communication and Networks</a:t>
            </a:r>
          </a:p>
        </p:txBody>
      </p:sp>
      <p:sp>
        <p:nvSpPr>
          <p:cNvPr id="95" name="FooterNum"/>
          <p:cNvSpPr txBox="1"/>
          <p:nvPr/>
        </p:nvSpPr>
        <p:spPr>
          <a:xfrm>
            <a:off x="7772400" y="4660900"/>
            <a:ext cx="914400" cy="1905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fld id="{B2B3A1C4-0000-4E3E-9A11-0F1A2B3C4D5E}" type="slidenum">
              <a:rPr lang="en-GB" sz="900" dirty="0">
                <a:solidFill>
                  <a:srgbClr val="8A857C"/>
                </a:solidFill>
                <a:latin typeface="Calibri"/>
              </a:rPr>
              <a:t>‹#›</a:t>
            </a:fld>
            <a:endParaRPr lang="en-GB" sz="900" dirty="0">
              <a:solidFill>
                <a:srgbClr val="8A857C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1" name="TitleRule"/>
          <p:cNvSpPr/>
          <p:nvPr/>
        </p:nvSpPr>
        <p:spPr>
          <a:xfrm>
            <a:off x="457200" y="1200150"/>
            <a:ext cx="8229600" cy="1905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3" name="FooterRule"/>
          <p:cNvSpPr/>
          <p:nvPr/>
        </p:nvSpPr>
        <p:spPr>
          <a:xfrm>
            <a:off x="457200" y="4610100"/>
            <a:ext cx="8229600" cy="9525"/>
          </a:xfrm>
          <a:prstGeom prst="rect">
            <a:avLst/>
          </a:prstGeom>
          <a:solidFill>
            <a:srgbClr val="DED8C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4" name="FooterText"/>
          <p:cNvSpPr txBox="1"/>
          <p:nvPr/>
        </p:nvSpPr>
        <p:spPr>
          <a:xfrm>
            <a:off x="457200" y="4660900"/>
            <a:ext cx="5486400" cy="1905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GB" sz="900" dirty="0">
                <a:solidFill>
                  <a:srgbClr val="8A857C"/>
                </a:solidFill>
                <a:latin typeface="Calibri"/>
              </a:rPr>
              <a:t>CST1510 Programming for Data Communication and Networks</a:t>
            </a:r>
          </a:p>
        </p:txBody>
      </p:sp>
      <p:sp>
        <p:nvSpPr>
          <p:cNvPr id="95" name="FooterNum"/>
          <p:cNvSpPr txBox="1"/>
          <p:nvPr/>
        </p:nvSpPr>
        <p:spPr>
          <a:xfrm>
            <a:off x="7772400" y="4660900"/>
            <a:ext cx="914400" cy="1905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fld id="{B2B3A1C4-0000-4E3E-9A11-0F1A2B3C4D5E}" type="slidenum">
              <a:rPr lang="en-GB" sz="900" dirty="0">
                <a:solidFill>
                  <a:srgbClr val="8A857C"/>
                </a:solidFill>
                <a:latin typeface="Calibri"/>
              </a:rPr>
              <a:t>‹#›</a:t>
            </a:fld>
            <a:endParaRPr lang="en-GB" sz="900" dirty="0">
              <a:solidFill>
                <a:srgbClr val="8A857C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1" name="TitleRule"/>
          <p:cNvSpPr/>
          <p:nvPr/>
        </p:nvSpPr>
        <p:spPr>
          <a:xfrm>
            <a:off x="457200" y="1200150"/>
            <a:ext cx="8229600" cy="1905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3" name="FooterRule"/>
          <p:cNvSpPr/>
          <p:nvPr/>
        </p:nvSpPr>
        <p:spPr>
          <a:xfrm>
            <a:off x="457200" y="4610100"/>
            <a:ext cx="8229600" cy="9525"/>
          </a:xfrm>
          <a:prstGeom prst="rect">
            <a:avLst/>
          </a:prstGeom>
          <a:solidFill>
            <a:srgbClr val="DED8C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4" name="FooterText"/>
          <p:cNvSpPr txBox="1"/>
          <p:nvPr/>
        </p:nvSpPr>
        <p:spPr>
          <a:xfrm>
            <a:off x="457200" y="4660900"/>
            <a:ext cx="5486400" cy="1905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GB" sz="900" dirty="0">
                <a:solidFill>
                  <a:srgbClr val="8A857C"/>
                </a:solidFill>
                <a:latin typeface="Calibri"/>
              </a:rPr>
              <a:t>CST1510 Programming for Data Communication and Networks</a:t>
            </a:r>
          </a:p>
        </p:txBody>
      </p:sp>
      <p:sp>
        <p:nvSpPr>
          <p:cNvPr id="95" name="FooterNum"/>
          <p:cNvSpPr txBox="1"/>
          <p:nvPr/>
        </p:nvSpPr>
        <p:spPr>
          <a:xfrm>
            <a:off x="7772400" y="4660900"/>
            <a:ext cx="914400" cy="1905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fld id="{B2B3A1C4-0000-4E3E-9A11-0F1A2B3C4D5E}" type="slidenum">
              <a:rPr lang="en-GB" sz="900" dirty="0">
                <a:solidFill>
                  <a:srgbClr val="8A857C"/>
                </a:solidFill>
                <a:latin typeface="Calibri"/>
              </a:rPr>
              <a:t>‹#›</a:t>
            </a:fld>
            <a:endParaRPr lang="en-GB" sz="900" dirty="0">
              <a:solidFill>
                <a:srgbClr val="8A857C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3" name="FooterRule"/>
          <p:cNvSpPr/>
          <p:nvPr/>
        </p:nvSpPr>
        <p:spPr>
          <a:xfrm>
            <a:off x="457200" y="4610100"/>
            <a:ext cx="8229600" cy="9525"/>
          </a:xfrm>
          <a:prstGeom prst="rect">
            <a:avLst/>
          </a:prstGeom>
          <a:solidFill>
            <a:srgbClr val="DED8C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4" name="FooterText"/>
          <p:cNvSpPr txBox="1"/>
          <p:nvPr/>
        </p:nvSpPr>
        <p:spPr>
          <a:xfrm>
            <a:off x="457200" y="4660900"/>
            <a:ext cx="5486400" cy="1905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GB" sz="900" dirty="0">
                <a:solidFill>
                  <a:srgbClr val="8A857C"/>
                </a:solidFill>
                <a:latin typeface="Calibri"/>
              </a:rPr>
              <a:t>CST1510 Programming for Data Communication and Networks</a:t>
            </a:r>
          </a:p>
        </p:txBody>
      </p:sp>
      <p:sp>
        <p:nvSpPr>
          <p:cNvPr id="95" name="FooterNum"/>
          <p:cNvSpPr txBox="1"/>
          <p:nvPr/>
        </p:nvSpPr>
        <p:spPr>
          <a:xfrm>
            <a:off x="7772400" y="4660900"/>
            <a:ext cx="914400" cy="1905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fld id="{B2B3A1C4-0000-4E3E-9A11-0F1A2B3C4D5E}" type="slidenum">
              <a:rPr lang="en-GB" sz="900" dirty="0">
                <a:solidFill>
                  <a:srgbClr val="8A857C"/>
                </a:solidFill>
                <a:latin typeface="Calibri"/>
              </a:rPr>
              <a:t>‹#›</a:t>
            </a:fld>
            <a:endParaRPr lang="en-GB" sz="900" dirty="0">
              <a:solidFill>
                <a:srgbClr val="8A857C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1" name="TitleRule"/>
          <p:cNvSpPr/>
          <p:nvPr/>
        </p:nvSpPr>
        <p:spPr>
          <a:xfrm>
            <a:off x="457200" y="1473200"/>
            <a:ext cx="8229600" cy="1905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3" name="FooterRule"/>
          <p:cNvSpPr/>
          <p:nvPr/>
        </p:nvSpPr>
        <p:spPr>
          <a:xfrm>
            <a:off x="457200" y="4610100"/>
            <a:ext cx="8229600" cy="9525"/>
          </a:xfrm>
          <a:prstGeom prst="rect">
            <a:avLst/>
          </a:prstGeom>
          <a:solidFill>
            <a:srgbClr val="DED8C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4" name="FooterText"/>
          <p:cNvSpPr txBox="1"/>
          <p:nvPr/>
        </p:nvSpPr>
        <p:spPr>
          <a:xfrm>
            <a:off x="457200" y="4660900"/>
            <a:ext cx="5486400" cy="1905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GB" sz="900" dirty="0">
                <a:solidFill>
                  <a:srgbClr val="8A857C"/>
                </a:solidFill>
                <a:latin typeface="Calibri"/>
              </a:rPr>
              <a:t>CST1510 Programming for Data Communication and Networks</a:t>
            </a:r>
          </a:p>
        </p:txBody>
      </p:sp>
      <p:sp>
        <p:nvSpPr>
          <p:cNvPr id="95" name="FooterNum"/>
          <p:cNvSpPr txBox="1"/>
          <p:nvPr/>
        </p:nvSpPr>
        <p:spPr>
          <a:xfrm>
            <a:off x="7772400" y="4660900"/>
            <a:ext cx="914400" cy="1905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fld id="{B2B3A1C4-0000-4E3E-9A11-0F1A2B3C4D5E}" type="slidenum">
              <a:rPr lang="en-GB" sz="900" dirty="0">
                <a:solidFill>
                  <a:srgbClr val="8A857C"/>
                </a:solidFill>
                <a:latin typeface="Calibri"/>
              </a:rPr>
              <a:t>‹#›</a:t>
            </a:fld>
            <a:endParaRPr lang="en-GB" sz="900" dirty="0">
              <a:solidFill>
                <a:srgbClr val="8A857C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3" name="FooterRule"/>
          <p:cNvSpPr/>
          <p:nvPr/>
        </p:nvSpPr>
        <p:spPr>
          <a:xfrm>
            <a:off x="457200" y="4610100"/>
            <a:ext cx="8229600" cy="9525"/>
          </a:xfrm>
          <a:prstGeom prst="rect">
            <a:avLst/>
          </a:prstGeom>
          <a:solidFill>
            <a:srgbClr val="DED8C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4" name="FooterText"/>
          <p:cNvSpPr txBox="1"/>
          <p:nvPr/>
        </p:nvSpPr>
        <p:spPr>
          <a:xfrm>
            <a:off x="457200" y="4660900"/>
            <a:ext cx="5486400" cy="1905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GB" sz="900" dirty="0">
                <a:solidFill>
                  <a:srgbClr val="8A857C"/>
                </a:solidFill>
                <a:latin typeface="Calibri"/>
              </a:rPr>
              <a:t>CST1510 Programming for Data Communication and Networks</a:t>
            </a:r>
          </a:p>
        </p:txBody>
      </p:sp>
      <p:sp>
        <p:nvSpPr>
          <p:cNvPr id="95" name="FooterNum"/>
          <p:cNvSpPr txBox="1"/>
          <p:nvPr/>
        </p:nvSpPr>
        <p:spPr>
          <a:xfrm>
            <a:off x="7772400" y="4660900"/>
            <a:ext cx="914400" cy="1905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fld id="{B2B3A1C4-0000-4E3E-9A11-0F1A2B3C4D5E}" type="slidenum">
              <a:rPr lang="en-GB" sz="900" dirty="0">
                <a:solidFill>
                  <a:srgbClr val="8A857C"/>
                </a:solidFill>
                <a:latin typeface="Calibri"/>
              </a:rPr>
              <a:t>‹#›</a:t>
            </a:fld>
            <a:endParaRPr lang="en-GB" sz="900" dirty="0">
              <a:solidFill>
                <a:srgbClr val="8A857C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1" name="TitleRule"/>
          <p:cNvSpPr/>
          <p:nvPr/>
        </p:nvSpPr>
        <p:spPr>
          <a:xfrm>
            <a:off x="457200" y="1200150"/>
            <a:ext cx="8229600" cy="1905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3" name="FooterRule"/>
          <p:cNvSpPr/>
          <p:nvPr/>
        </p:nvSpPr>
        <p:spPr>
          <a:xfrm>
            <a:off x="457200" y="4610100"/>
            <a:ext cx="8229600" cy="9525"/>
          </a:xfrm>
          <a:prstGeom prst="rect">
            <a:avLst/>
          </a:prstGeom>
          <a:solidFill>
            <a:srgbClr val="DED8C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4" name="FooterText"/>
          <p:cNvSpPr txBox="1"/>
          <p:nvPr/>
        </p:nvSpPr>
        <p:spPr>
          <a:xfrm>
            <a:off x="457200" y="4660900"/>
            <a:ext cx="5486400" cy="1905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GB" sz="900" dirty="0">
                <a:solidFill>
                  <a:srgbClr val="8A857C"/>
                </a:solidFill>
                <a:latin typeface="Calibri"/>
              </a:rPr>
              <a:t>CST1510 Programming for Data Communication and Networks</a:t>
            </a:r>
          </a:p>
        </p:txBody>
      </p:sp>
      <p:sp>
        <p:nvSpPr>
          <p:cNvPr id="95" name="FooterNum"/>
          <p:cNvSpPr txBox="1"/>
          <p:nvPr/>
        </p:nvSpPr>
        <p:spPr>
          <a:xfrm>
            <a:off x="7772400" y="4660900"/>
            <a:ext cx="914400" cy="1905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fld id="{B2B3A1C4-0000-4E3E-9A11-0F1A2B3C4D5E}" type="slidenum">
              <a:rPr lang="en-GB" sz="900" dirty="0">
                <a:solidFill>
                  <a:srgbClr val="8A857C"/>
                </a:solidFill>
                <a:latin typeface="Calibri"/>
              </a:rPr>
              <a:t>‹#›</a:t>
            </a:fld>
            <a:endParaRPr lang="en-GB" sz="900" dirty="0">
              <a:solidFill>
                <a:srgbClr val="8A857C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rgbClr val="1A2233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2E3440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a.idoo@mdx.ac.mu" TargetMode="External"/><Relationship Id="rId2" Type="http://schemas.openxmlformats.org/officeDocument/2006/relationships/hyperlink" Target="mailto:a.wieclaw@mdx.ac.uk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mailto:A.Eissa@mdx.ac.uk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A223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676400"/>
            <a:ext cx="7620000" cy="1397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400" b="1" dirty="0">
                <a:solidFill>
                  <a:srgbClr val="F7F4EC"/>
                </a:solidFill>
                <a:latin typeface="Georgia"/>
              </a:rPr>
              <a:t>CST1510</a:t>
            </a:r>
            <a:r>
              <a:rPr lang="en-GB" sz="3400" b="1" dirty="0">
                <a:solidFill>
                  <a:srgbClr val="F7F4EC"/>
                </a:solidFill>
                <a:latin typeface="Georgia"/>
              </a:rPr>
              <a:t> Programming for Data Communication and Networks</a:t>
            </a:r>
            <a:endParaRPr sz="3400" b="1" dirty="0">
              <a:solidFill>
                <a:srgbClr val="F7F4EC"/>
              </a:solidFill>
              <a:latin typeface="Georgia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457200" y="3276600"/>
            <a:ext cx="7620000" cy="0"/>
          </a:xfrm>
          <a:prstGeom prst="line">
            <a:avLst/>
          </a:prstGeom>
          <a:ln w="15875" cap="flat" cmpd="sng" algn="ctr">
            <a:solidFill>
              <a:srgbClr val="6E9BC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9494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7AD62-40B1-47AA-875A-F82CDD1D8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Learning outcomes: knowledge</a:t>
            </a:r>
            <a:br>
              <a:rPr lang="en-GB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D353DA-039B-F7E0-6226-5FF99C648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946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dirty="0"/>
              <a:t>On successful completion of this module, the student will be able to: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sz="1600" dirty="0"/>
              <a:t>Explain the core principles of Python programming — including data types, control structures, functions, and object-oriented design — and their role in constructing reliable, maintainable software.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sz="1600" dirty="0"/>
              <a:t>Describe how applications store, retrieve, and process data through files, databases, and web APIs, and identify appropriate tools and structures for a given data-handling task.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sz="1600" dirty="0"/>
              <a:t>Identify common security vulnerabilities in software applications including insecure password storage and SQL injection — and explain the principles behind secure, industry-standard mitigation practices.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23118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1AE95-0369-A5E6-94D7-B7600B853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b="1" dirty="0"/>
              <a:t>Learning outcomes: skills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9B72A-C696-7389-17BE-BF5820E73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946400"/>
          </a:xfrm>
        </p:spPr>
        <p:txBody>
          <a:bodyPr>
            <a:normAutofit/>
          </a:bodyPr>
          <a:lstStyle/>
          <a:p>
            <a:r>
              <a:rPr lang="en-GB" sz="1300" dirty="0"/>
              <a:t>On successful completion of this module, the student will be able to:</a:t>
            </a:r>
          </a:p>
          <a:p>
            <a:pPr lvl="1"/>
            <a:r>
              <a:rPr lang="en-GB" sz="1300" dirty="0"/>
              <a:t>Design and implement Python programs that apply control structures, functions, and object-oriented design to construct systematic solutions to problems drawn from AI/Data Science, Cyber Security, and IT.</a:t>
            </a:r>
          </a:p>
          <a:p>
            <a:pPr lvl="1"/>
            <a:r>
              <a:rPr lang="en-GB" sz="1300" dirty="0"/>
              <a:t>Employ data handling, processing, and visualisation techniques — using tools such as pandas, web APIs, and SQL — to extract, structure, and present meaningful information from real-world data sources.</a:t>
            </a:r>
          </a:p>
          <a:p>
            <a:pPr lvl="1"/>
            <a:r>
              <a:rPr lang="en-GB" sz="1300" dirty="0"/>
              <a:t>Construct, test, and deploy a working, interactive </a:t>
            </a:r>
            <a:r>
              <a:rPr lang="en-GB" sz="1300" dirty="0" err="1"/>
              <a:t>Streamlit</a:t>
            </a:r>
            <a:r>
              <a:rPr lang="en-GB" sz="1300" dirty="0"/>
              <a:t> application that incorporates secure authentication practice, demonstrating professional, industry-relevant development standards.</a:t>
            </a:r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397254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91218-9B52-C49C-AD48-064D5C59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FA597-DB4A-15FA-F30D-8963AE44E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2946400"/>
          </a:xfrm>
        </p:spPr>
        <p:txBody>
          <a:bodyPr>
            <a:normAutofit/>
          </a:bodyPr>
          <a:lstStyle/>
          <a:p>
            <a:pPr lvl="0">
              <a:buFont typeface="+mj-lt"/>
              <a:buAutoNum type="arabicPeriod"/>
            </a:pPr>
            <a:r>
              <a:rPr lang="en-GB" sz="1300" dirty="0"/>
              <a:t>Python Fundamentals: Values, Types, and Input/Output.</a:t>
            </a:r>
          </a:p>
          <a:p>
            <a:pPr lvl="0">
              <a:buFont typeface="+mj-lt"/>
              <a:buAutoNum type="arabicPeriod"/>
            </a:pPr>
            <a:r>
              <a:rPr lang="en-GB" sz="1300" dirty="0"/>
              <a:t>Decision-Making and Iteration (Control Flow).</a:t>
            </a:r>
          </a:p>
          <a:p>
            <a:pPr lvl="0">
              <a:buFont typeface="+mj-lt"/>
              <a:buAutoNum type="arabicPeriod"/>
            </a:pPr>
            <a:r>
              <a:rPr lang="en-GB" sz="1300" dirty="0"/>
              <a:t>Functions, Parameters, and Modular Code Design.</a:t>
            </a:r>
          </a:p>
          <a:p>
            <a:pPr lvl="0">
              <a:buFont typeface="+mj-lt"/>
              <a:buAutoNum type="arabicPeriod"/>
            </a:pPr>
            <a:r>
              <a:rPr lang="en-GB" sz="1300" dirty="0"/>
              <a:t>Lists, Dictionaries, Files, and Error Handling.</a:t>
            </a:r>
          </a:p>
          <a:p>
            <a:pPr lvl="0">
              <a:buFont typeface="+mj-lt"/>
              <a:buAutoNum type="arabicPeriod"/>
            </a:pPr>
            <a:r>
              <a:rPr lang="en-GB" sz="1300" dirty="0"/>
              <a:t>Object-Oriented Programming: Classes and Objects.</a:t>
            </a:r>
          </a:p>
          <a:p>
            <a:pPr lvl="0">
              <a:buFont typeface="+mj-lt"/>
              <a:buAutoNum type="arabicPeriod"/>
            </a:pPr>
            <a:r>
              <a:rPr lang="en-GB" sz="1300" dirty="0"/>
              <a:t>Data Analysis with Pandas.</a:t>
            </a:r>
          </a:p>
          <a:p>
            <a:pPr lvl="0">
              <a:buFont typeface="+mj-lt"/>
              <a:buAutoNum type="arabicPeriod"/>
            </a:pPr>
            <a:r>
              <a:rPr lang="en-GB" sz="1300" dirty="0"/>
              <a:t>String Manipulation and Text Processing.</a:t>
            </a:r>
          </a:p>
          <a:p>
            <a:pPr lvl="0">
              <a:buFont typeface="+mj-lt"/>
              <a:buAutoNum type="arabicPeriod"/>
            </a:pPr>
            <a:r>
              <a:rPr lang="en-GB" sz="1300" dirty="0"/>
              <a:t>Working with Real-World Data and Web APIs.</a:t>
            </a:r>
          </a:p>
          <a:p>
            <a:pPr lvl="0">
              <a:buFont typeface="+mj-lt"/>
              <a:buAutoNum type="arabicPeriod"/>
            </a:pPr>
            <a:r>
              <a:rPr lang="en-GB" sz="1300" dirty="0"/>
              <a:t>Hashing, Password Security, and Authentication.</a:t>
            </a:r>
          </a:p>
          <a:p>
            <a:pPr lvl="0">
              <a:buFont typeface="+mj-lt"/>
              <a:buAutoNum type="arabicPeriod"/>
            </a:pPr>
            <a:r>
              <a:rPr lang="en-GB" sz="1300" dirty="0"/>
              <a:t>Relational Databases and SQL.</a:t>
            </a:r>
          </a:p>
          <a:p>
            <a:pPr lvl="0">
              <a:buFont typeface="+mj-lt"/>
              <a:buAutoNum type="arabicPeriod"/>
            </a:pPr>
            <a:r>
              <a:rPr lang="en-GB" sz="1300" dirty="0"/>
              <a:t>Building Interactive Dashboards with </a:t>
            </a:r>
            <a:r>
              <a:rPr lang="en-GB" sz="1300" dirty="0" err="1"/>
              <a:t>Streamlit</a:t>
            </a:r>
            <a:r>
              <a:rPr lang="en-GB" sz="1300" dirty="0"/>
              <a:t>.</a:t>
            </a:r>
          </a:p>
          <a:p>
            <a:pPr lvl="0">
              <a:buFont typeface="+mj-lt"/>
              <a:buAutoNum type="arabicPeriod"/>
            </a:pPr>
            <a:r>
              <a:rPr lang="en-GB" sz="1300" dirty="0"/>
              <a:t>AI Integration, Testing, and Deployment.</a:t>
            </a:r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03389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58088-3325-058A-EE67-4562C046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CST1510 is a 30-credit module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C5E7B4-C036-B94C-B504-369067598E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717800"/>
            <a:ext cx="8229600" cy="1854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AC9775-97A9-52CE-86A6-12837B66BF45}"/>
              </a:ext>
            </a:extLst>
          </p:cNvPr>
          <p:cNvSpPr txBox="1"/>
          <p:nvPr/>
        </p:nvSpPr>
        <p:spPr>
          <a:xfrm>
            <a:off x="345233" y="1320800"/>
            <a:ext cx="8229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Each week: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2-hour workshop (demonstration, concept, do it yourself)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3-hour lab that reinforces your learning, with a GitHub commit and push at the end of every lab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1-hour online drop-in session (Q&amp;A, formative feedback, further discussion)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68573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FE7F910-7BC8-3B4F-B27B-1EEF34B1AD9F}"/>
              </a:ext>
            </a:extLst>
          </p:cNvPr>
          <p:cNvSpPr/>
          <p:nvPr/>
        </p:nvSpPr>
        <p:spPr>
          <a:xfrm>
            <a:off x="6146800" y="1676400"/>
            <a:ext cx="2540000" cy="2159000"/>
          </a:xfrm>
          <a:prstGeom prst="roundRect">
            <a:avLst/>
          </a:prstGeom>
          <a:solidFill>
            <a:srgbClr val="EEF2F7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B10680C-630B-044D-B0FB-C11336A97BFA}"/>
              </a:ext>
            </a:extLst>
          </p:cNvPr>
          <p:cNvSpPr/>
          <p:nvPr/>
        </p:nvSpPr>
        <p:spPr>
          <a:xfrm>
            <a:off x="3302000" y="1676400"/>
            <a:ext cx="2540000" cy="2159000"/>
          </a:xfrm>
          <a:prstGeom prst="roundRect">
            <a:avLst/>
          </a:prstGeom>
          <a:solidFill>
            <a:srgbClr val="EEF2F7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5D4D213-91D6-DC4B-9BA6-C29A090867E2}"/>
              </a:ext>
            </a:extLst>
          </p:cNvPr>
          <p:cNvSpPr/>
          <p:nvPr/>
        </p:nvSpPr>
        <p:spPr>
          <a:xfrm>
            <a:off x="457200" y="1676400"/>
            <a:ext cx="2540000" cy="2159000"/>
          </a:xfrm>
          <a:prstGeom prst="roundRect">
            <a:avLst/>
          </a:prstGeom>
          <a:solidFill>
            <a:srgbClr val="EEF2F7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32B3E5-EAB7-A089-EBDA-6E343EE81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0200"/>
            <a:ext cx="8229600" cy="1143000"/>
          </a:xfrm>
        </p:spPr>
        <p:txBody>
          <a:bodyPr/>
          <a:lstStyle/>
          <a:p>
            <a:r>
              <a:rPr lang="en-US" dirty="0"/>
              <a:t>Teaching team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34882-A562-F431-A622-41A8867718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0400" y="1879600"/>
            <a:ext cx="2133600" cy="1752600"/>
          </a:xfrm>
        </p:spPr>
        <p:txBody>
          <a:bodyPr wrap="square" anchor="t" anchorCtr="0">
            <a:noAutofit/>
          </a:bodyPr>
          <a:lstStyle/>
          <a:p>
            <a:pPr>
              <a:buNone/>
            </a:pPr>
            <a:r>
              <a:rPr lang="en-GB" sz="1000" b="1" dirty="0">
                <a:solidFill>
                  <a:srgbClr val="8A857C"/>
                </a:solidFill>
              </a:rPr>
              <a:t>LONDON</a:t>
            </a:r>
          </a:p>
          <a:p>
            <a:pPr>
              <a:buNone/>
            </a:pPr>
            <a:r>
              <a:rPr lang="en-GB" sz="1500" b="1" dirty="0">
                <a:solidFill>
                  <a:srgbClr val="1A2233"/>
                </a:solidFill>
              </a:rPr>
              <a:t>Anna Wieclaw</a:t>
            </a:r>
          </a:p>
          <a:p>
            <a:pPr>
              <a:buNone/>
            </a:pPr>
            <a:r>
              <a:rPr lang="en-GB" sz="1200" dirty="0">
                <a:solidFill>
                  <a:srgbClr val="474C55"/>
                </a:solidFill>
              </a:rPr>
              <a:t>Room TG17</a:t>
            </a:r>
          </a:p>
          <a:p>
            <a:pPr>
              <a:buNone/>
            </a:pPr>
            <a:r>
              <a:rPr lang="en-GB" sz="1200" dirty="0">
                <a:solidFill>
                  <a:srgbClr val="474C55"/>
                </a:solidFill>
              </a:rPr>
              <a:t>+44 208 411 4547</a:t>
            </a:r>
          </a:p>
          <a:p>
            <a:pPr>
              <a:buNone/>
            </a:pPr>
            <a:r>
              <a:rPr lang="en-GB" sz="1200" dirty="0">
                <a:solidFill>
                  <a:srgbClr val="2E5C8A"/>
                </a:solidFill>
                <a:hlinkClick r:id="rId2"/>
              </a:rPr>
              <a:t>a.wieclaw@mdx.ac.uk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C5C1E-CD89-FF24-D285-0A112AF69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0000" y="1879600"/>
            <a:ext cx="2133600" cy="1752600"/>
          </a:xfrm>
        </p:spPr>
        <p:txBody>
          <a:bodyPr wrap="square" anchor="t" anchorCtr="0">
            <a:noAutofit/>
          </a:bodyPr>
          <a:lstStyle/>
          <a:p>
            <a:pPr>
              <a:buNone/>
            </a:pPr>
            <a:r>
              <a:rPr lang="en-GB" sz="1000" b="1" dirty="0">
                <a:solidFill>
                  <a:srgbClr val="8A857C"/>
                </a:solidFill>
              </a:rPr>
              <a:t>MAURITIUS</a:t>
            </a:r>
          </a:p>
          <a:p>
            <a:pPr>
              <a:buNone/>
            </a:pPr>
            <a:r>
              <a:rPr lang="en-GB" sz="1500" b="1" dirty="0">
                <a:solidFill>
                  <a:srgbClr val="1A2233"/>
                </a:solidFill>
              </a:rPr>
              <a:t>Aisha Idoo</a:t>
            </a:r>
          </a:p>
          <a:p>
            <a:pPr>
              <a:buNone/>
            </a:pPr>
            <a:r>
              <a:rPr lang="en-GB" sz="1200" dirty="0">
                <a:solidFill>
                  <a:srgbClr val="2E5C8A"/>
                </a:solidFill>
                <a:hlinkClick r:id="rId3"/>
              </a:rPr>
              <a:t>a.idoo@mdx.ac.mu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4C9CB4E-0AE2-1B14-32EB-95731CC60F94}"/>
              </a:ext>
            </a:extLst>
          </p:cNvPr>
          <p:cNvSpPr txBox="1">
            <a:spLocks/>
          </p:cNvSpPr>
          <p:nvPr/>
        </p:nvSpPr>
        <p:spPr>
          <a:xfrm>
            <a:off x="3505200" y="1879600"/>
            <a:ext cx="2133600" cy="175260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GB" sz="1000" b="1" dirty="0">
                <a:solidFill>
                  <a:srgbClr val="8A857C"/>
                </a:solidFill>
              </a:rPr>
              <a:t>LONDON</a:t>
            </a:r>
          </a:p>
          <a:p>
            <a:pPr>
              <a:buNone/>
            </a:pPr>
            <a:r>
              <a:rPr lang="en-GB" sz="1500" b="1" dirty="0">
                <a:solidFill>
                  <a:srgbClr val="1A2233"/>
                </a:solidFill>
              </a:rPr>
              <a:t>Ahmed Eissa</a:t>
            </a:r>
          </a:p>
          <a:p>
            <a:pPr>
              <a:buNone/>
            </a:pPr>
            <a:r>
              <a:rPr lang="en-GB" sz="1200" dirty="0">
                <a:solidFill>
                  <a:srgbClr val="2E5C8A"/>
                </a:solidFill>
                <a:hlinkClick r:id="rId4"/>
              </a:rPr>
              <a:t>A.Eissa@mdx.ac.uk</a:t>
            </a:r>
          </a:p>
        </p:txBody>
      </p:sp>
    </p:spTree>
    <p:extLst>
      <p:ext uri="{BB962C8B-B14F-4D97-AF65-F5344CB8AC3E}">
        <p14:creationId xmlns:p14="http://schemas.microsoft.com/office/powerpoint/2010/main" val="2136841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690F-F668-3BEB-04DC-977ACD939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GB" dirty="0"/>
              <a:t>Your weekly routine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3F6EDC-8598-8AE2-B87A-2112B77D8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2997200"/>
          </a:xfrm>
        </p:spPr>
        <p:txBody>
          <a:bodyPr>
            <a:noAutofit/>
          </a:bodyPr>
          <a:lstStyle/>
          <a:p>
            <a:r>
              <a:rPr lang="en-GB" sz="1300" b="1" dirty="0"/>
              <a:t>Check MyLearning each week</a:t>
            </a:r>
          </a:p>
          <a:p>
            <a:r>
              <a:rPr lang="en-GB" sz="1300" dirty="0"/>
              <a:t>Your weekly learning materials and activities will be released on </a:t>
            </a:r>
            <a:r>
              <a:rPr lang="en-GB" sz="1300" b="1" dirty="0"/>
              <a:t>MyLearning</a:t>
            </a:r>
            <a:r>
              <a:rPr lang="en-GB" sz="1300" dirty="0"/>
              <a:t> during the relevant teaching week.</a:t>
            </a:r>
          </a:p>
          <a:p>
            <a:r>
              <a:rPr lang="en-GB" sz="1300" dirty="0"/>
              <a:t>To keep up with the module:</a:t>
            </a:r>
          </a:p>
          <a:p>
            <a:pPr lvl="0"/>
            <a:r>
              <a:rPr lang="en-GB" sz="1300" b="1" dirty="0"/>
              <a:t>Check MyLearning at the start of each week</a:t>
            </a:r>
            <a:r>
              <a:rPr lang="en-GB" sz="1300" dirty="0"/>
              <a:t> for new materials, instructions and resources. </a:t>
            </a:r>
          </a:p>
          <a:p>
            <a:pPr lvl="0"/>
            <a:r>
              <a:rPr lang="en-GB" sz="1300" b="1" dirty="0"/>
              <a:t>Work through the current week's content</a:t>
            </a:r>
            <a:r>
              <a:rPr lang="en-GB" sz="1300" dirty="0"/>
              <a:t> and complete the associated lab activities. </a:t>
            </a:r>
          </a:p>
          <a:p>
            <a:pPr lvl="0"/>
            <a:r>
              <a:rPr lang="en-GB" sz="1300" b="1" dirty="0"/>
              <a:t>Make regular Git commits</a:t>
            </a:r>
            <a:r>
              <a:rPr lang="en-GB" sz="1300" dirty="0"/>
              <a:t> as you complete your work. This provides a clear record of your progress throughout the module. </a:t>
            </a:r>
          </a:p>
          <a:p>
            <a:pPr lvl="0"/>
            <a:r>
              <a:rPr lang="en-GB" sz="1300" b="1" dirty="0"/>
              <a:t>Attend the scheduled sessions</a:t>
            </a:r>
            <a:r>
              <a:rPr lang="en-GB" sz="1300" dirty="0"/>
              <a:t> — teaching, labs and online drop-ins. Your timetable on MyLearning will show the dates, times and locations. </a:t>
            </a:r>
          </a:p>
          <a:p>
            <a:r>
              <a:rPr lang="en-GB" sz="1300" b="1" dirty="0"/>
              <a:t>Your weekly routine:</a:t>
            </a:r>
            <a:endParaRPr lang="en-GB" sz="1300" dirty="0"/>
          </a:p>
          <a:p>
            <a:pPr marL="0" indent="0">
              <a:buNone/>
            </a:pPr>
            <a:endParaRPr lang="en-GB" sz="1300" b="1" dirty="0"/>
          </a:p>
          <a:p>
            <a:pPr marL="0" indent="0">
              <a:buNone/>
            </a:pPr>
            <a:r>
              <a:rPr lang="en-GB" sz="1300" b="1" dirty="0"/>
              <a:t>Check MyLearning → Attend Teaching → Complete Lab → Commit to Git → Ask for Help</a:t>
            </a:r>
            <a:endParaRPr lang="en-GB" sz="1300" dirty="0"/>
          </a:p>
          <a:p>
            <a:pPr marL="0" indent="0"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122788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4800"/>
            <a:ext cx="8229600" cy="96012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endParaRPr lang="en-GB" sz="3200" b="1" dirty="0">
              <a:solidFill>
                <a:srgbClr val="1A2233"/>
              </a:solidFill>
              <a:latin typeface="Georgia"/>
            </a:endParaRPr>
          </a:p>
          <a:p>
            <a:r>
              <a:rPr lang="en-GB" sz="3200" b="1" dirty="0">
                <a:solidFill>
                  <a:srgbClr val="1A2233"/>
                </a:solidFill>
                <a:latin typeface="Georgia"/>
              </a:rPr>
              <a:t>Academic integrity: GenAI and ChatGPT</a:t>
            </a:r>
            <a:endParaRPr sz="3200" b="1" dirty="0">
              <a:solidFill>
                <a:srgbClr val="1A2233"/>
              </a:solidFill>
              <a:latin typeface="Georgia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457200" y="1264920"/>
            <a:ext cx="8229600" cy="0"/>
          </a:xfrm>
          <a:prstGeom prst="line">
            <a:avLst/>
          </a:prstGeom>
          <a:ln w="19050" cap="flat" cmpd="sng" algn="ctr">
            <a:solidFill>
              <a:srgbClr val="2E5C8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440180"/>
            <a:ext cx="8229600" cy="2489200"/>
          </a:xfrm>
          <a:prstGeom prst="rect">
            <a:avLst/>
          </a:prstGeom>
          <a:noFill/>
        </p:spPr>
        <p:txBody>
          <a:bodyPr wrap="square" numCol="2" spcCol="274320">
            <a:normAutofit/>
          </a:bodyPr>
          <a:lstStyle/>
          <a:p>
            <a:pPr>
              <a:spcAft>
                <a:spcPts val="400"/>
              </a:spcAft>
            </a:pPr>
            <a:r>
              <a:rPr lang="en-GB" sz="1200" dirty="0"/>
              <a:t>The aim of this module is to develop </a:t>
            </a:r>
            <a:r>
              <a:rPr lang="en-GB" sz="1200" b="1" dirty="0"/>
              <a:t>your own understanding of programming</a:t>
            </a:r>
            <a:r>
              <a:rPr lang="en-GB" sz="1200" dirty="0"/>
              <a:t>. AI can support your learning, but it must not replace the process of learning how to think, solve problems and understand code.</a:t>
            </a:r>
          </a:p>
          <a:p>
            <a:pPr lvl="0">
              <a:spcAft>
                <a:spcPts val="400"/>
              </a:spcAft>
            </a:pPr>
            <a:r>
              <a:rPr lang="en-GB" sz="1200" b="1" dirty="0"/>
              <a:t>Learn the fundamentals yourself first.</a:t>
            </a:r>
            <a:r>
              <a:rPr lang="en-GB" sz="1200" dirty="0"/>
              <a:t> Approach the weekly material, examples, problems and tasks </a:t>
            </a:r>
            <a:r>
              <a:rPr lang="en-GB" sz="1200" b="1" dirty="0"/>
              <a:t>without using GenAI</a:t>
            </a:r>
            <a:r>
              <a:rPr lang="en-GB" sz="1200" dirty="0"/>
              <a:t>. </a:t>
            </a:r>
          </a:p>
          <a:p>
            <a:pPr lvl="0">
              <a:spcAft>
                <a:spcPts val="400"/>
              </a:spcAft>
            </a:pPr>
            <a:r>
              <a:rPr lang="en-GB" sz="1200" b="1" dirty="0"/>
              <a:t>Handwritten notes MUST be your own.</a:t>
            </a:r>
            <a:r>
              <a:rPr lang="en-GB" sz="1200" dirty="0"/>
              <a:t> The required handwritten learning notes must be physically handwritten and completed individually. They provide evidence that you have personally worked through the fundamental concepts. </a:t>
            </a:r>
          </a:p>
          <a:p>
            <a:pPr lvl="0">
              <a:spcAft>
                <a:spcPts val="400"/>
              </a:spcAft>
            </a:pPr>
            <a:r>
              <a:rPr lang="en-GB" sz="1200" b="1" dirty="0"/>
              <a:t>Limited AI support is permitted during development.</a:t>
            </a:r>
            <a:r>
              <a:rPr lang="en-GB" sz="1200" dirty="0"/>
              <a:t> Once you have worked through the fundamentals, you may use </a:t>
            </a:r>
            <a:r>
              <a:rPr lang="en-GB" sz="1200" b="1" dirty="0"/>
              <a:t>light/assistive AI support</a:t>
            </a:r>
            <a:r>
              <a:rPr lang="en-GB" sz="1200" dirty="0"/>
              <a:t>, including permitted AI tools integrated into your IDE, to support your learning and development. </a:t>
            </a:r>
          </a:p>
          <a:p>
            <a:pPr lvl="0">
              <a:spcAft>
                <a:spcPts val="400"/>
              </a:spcAft>
            </a:pPr>
            <a:r>
              <a:rPr lang="en-GB" sz="1200" b="1" dirty="0"/>
              <a:t>You must understand your code.</a:t>
            </a:r>
            <a:r>
              <a:rPr lang="en-GB" sz="1200" dirty="0"/>
              <a:t> AI should help you learn, debug and develop — it should </a:t>
            </a:r>
            <a:r>
              <a:rPr lang="en-GB" sz="1200" b="1" dirty="0"/>
              <a:t>not produce work that you cannot explain</a:t>
            </a:r>
            <a:r>
              <a:rPr lang="en-GB" sz="1200" dirty="0"/>
              <a:t>. </a:t>
            </a:r>
          </a:p>
          <a:p>
            <a:pPr lvl="0">
              <a:spcAft>
                <a:spcPts val="400"/>
              </a:spcAft>
            </a:pPr>
            <a:r>
              <a:rPr lang="en-GB" sz="1200" b="1" dirty="0"/>
              <a:t>You will demonstrate your understanding.</a:t>
            </a:r>
            <a:r>
              <a:rPr lang="en-GB" sz="1200" dirty="0"/>
              <a:t> The second submission includes a </a:t>
            </a:r>
            <a:r>
              <a:rPr lang="en-GB" sz="1200" b="1" dirty="0"/>
              <a:t>video recording in which you explain your code, how it works, your development decisions and your solution in detail</a:t>
            </a:r>
            <a:r>
              <a:rPr lang="en-GB" sz="1200" dirty="0"/>
              <a:t>. </a:t>
            </a:r>
          </a:p>
          <a:p>
            <a:pPr>
              <a:spcAft>
                <a:spcPts val="400"/>
              </a:spcAft>
            </a:pPr>
            <a:r>
              <a:rPr lang="en-GB" sz="1200" b="1" dirty="0"/>
              <a:t>The key principle:</a:t>
            </a:r>
          </a:p>
          <a:p>
            <a:pPr>
              <a:spcAft>
                <a:spcPts val="400"/>
              </a:spcAft>
            </a:pPr>
            <a:r>
              <a:rPr lang="en-GB" sz="1200" b="1" dirty="0"/>
              <a:t>Learn it → Write it → Build it → Use AI carefully → Explain it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490865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F833C5-92CB-AE8D-66F2-F0E4056BE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038ED5F-34CC-715F-0BDE-6476FA9F0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19062"/>
            <a:ext cx="8178799" cy="390537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100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949BF0-CD2F-B099-F902-2B83858EF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160907"/>
            <a:ext cx="8178799" cy="282168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8322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1169551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endParaRPr lang="en-GB" sz="3200" b="1" i="0" dirty="0">
              <a:solidFill>
                <a:srgbClr val="1A2233"/>
              </a:solidFill>
              <a:latin typeface="Georgia"/>
            </a:endParaRPr>
          </a:p>
          <a:p>
            <a:r>
              <a:rPr sz="3200" b="1" i="0" dirty="0">
                <a:solidFill>
                  <a:srgbClr val="1A2233"/>
                </a:solidFill>
                <a:latin typeface="Georgia"/>
              </a:rPr>
              <a:t>Where each week’s material lives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64920"/>
            <a:ext cx="8229600" cy="0"/>
          </a:xfrm>
          <a:prstGeom prst="line">
            <a:avLst/>
          </a:prstGeom>
          <a:ln w="19050" cap="flat" cmpd="sng" algn="ctr">
            <a:solidFill>
              <a:srgbClr val="2E5C8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57200" y="1417320"/>
            <a:ext cx="5074920" cy="3401568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63624"/>
            <a:ext cx="3840480" cy="31080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Courier New"/>
              </a:rPr>
              <a:t>CST1510/</a:t>
            </a:r>
          </a:p>
          <a:p>
            <a:pPr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676"/>
                </a:solidFill>
                <a:latin typeface="Courier New"/>
              </a:rPr>
              <a:t>├─ Week 00 - Orientation and Setup/</a:t>
            </a:r>
          </a:p>
          <a:p>
            <a:pPr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Courier New"/>
              </a:rPr>
              <a:t>├─ Week 01 - Values, Types and Input-Output/</a:t>
            </a:r>
          </a:p>
          <a:p>
            <a:pPr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Courier New"/>
              </a:rPr>
              <a:t>│  ├─ 01 - Your First Program/</a:t>
            </a:r>
          </a:p>
          <a:p>
            <a:pPr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Courier New"/>
              </a:rPr>
              <a:t>│  ├─ 02 - Variables and Types/</a:t>
            </a:r>
          </a:p>
          <a:p>
            <a:pPr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Courier New"/>
              </a:rPr>
              <a:t>│  ├─ 03 - Numbers and Arithmetic/</a:t>
            </a:r>
          </a:p>
          <a:p>
            <a:pPr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Courier New"/>
              </a:rPr>
              <a:t>│  ├─ 04 - Input, Casting and f-strings/</a:t>
            </a:r>
          </a:p>
          <a:p>
            <a:pPr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676"/>
                </a:solidFill>
                <a:latin typeface="Courier New"/>
              </a:rPr>
              <a:t>│  │  ├─ examples/</a:t>
            </a:r>
          </a:p>
          <a:p>
            <a:pPr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676"/>
                </a:solidFill>
                <a:latin typeface="Courier New"/>
              </a:rPr>
              <a:t>│  │  └─ W01T04_walkthrough.ipynb</a:t>
            </a:r>
          </a:p>
          <a:p>
            <a:pPr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Courier New"/>
              </a:rPr>
              <a:t>│  ├─ DEMO/record_check.py</a:t>
            </a:r>
          </a:p>
          <a:p>
            <a:pPr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Courier New"/>
              </a:rPr>
              <a:t>│  ├─ LAB/</a:t>
            </a:r>
          </a:p>
          <a:p>
            <a:pPr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676"/>
                </a:solidFill>
                <a:latin typeface="Courier New"/>
              </a:rPr>
              <a:t>│  │  ├─ warmup/</a:t>
            </a:r>
          </a:p>
          <a:p>
            <a:pPr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676"/>
                </a:solidFill>
                <a:latin typeface="Courier New"/>
              </a:rPr>
              <a:t>│  │  ├─ template.py</a:t>
            </a:r>
          </a:p>
          <a:p>
            <a:pPr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676"/>
                </a:solidFill>
                <a:latin typeface="Courier New"/>
              </a:rPr>
              <a:t>│  │  └─ W01_Lab.ipynb</a:t>
            </a:r>
          </a:p>
          <a:p>
            <a:pPr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Courier New"/>
              </a:rPr>
              <a:t>│  ├─ EXTRA_PROJECTS.md</a:t>
            </a:r>
          </a:p>
          <a:p>
            <a:pPr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Courier New"/>
              </a:rPr>
              <a:t>│  └─ README.md</a:t>
            </a:r>
          </a:p>
          <a:p>
            <a:pPr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676"/>
                </a:solidFill>
                <a:latin typeface="Courier New"/>
              </a:rPr>
              <a:t>└─ Week 02 … Week 12/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41648" y="2130094"/>
            <a:ext cx="64008" cy="0"/>
          </a:xfrm>
          <a:prstGeom prst="line">
            <a:avLst/>
          </a:prstGeom>
          <a:ln w="19050" cap="flat" cmpd="sng" algn="ctr">
            <a:solidFill>
              <a:srgbClr val="2E5C8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105656" y="2130094"/>
            <a:ext cx="0" cy="1028700"/>
          </a:xfrm>
          <a:prstGeom prst="line">
            <a:avLst/>
          </a:prstGeom>
          <a:ln w="19050" cap="flat" cmpd="sng" algn="ctr">
            <a:solidFill>
              <a:srgbClr val="2E5C8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041648" y="3158794"/>
            <a:ext cx="64008" cy="0"/>
          </a:xfrm>
          <a:prstGeom prst="line">
            <a:avLst/>
          </a:prstGeom>
          <a:ln w="19050" cap="flat" cmpd="sng" algn="ctr">
            <a:solidFill>
              <a:srgbClr val="2E5C8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178808" y="2566720"/>
            <a:ext cx="1188720" cy="155448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2E5C8A"/>
                </a:solidFill>
                <a:latin typeface="Calibri"/>
                <a:cs typeface="Calibri"/>
              </a:rPr>
              <a:t>Workshop topics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41648" y="3210915"/>
            <a:ext cx="64008" cy="0"/>
          </a:xfrm>
          <a:prstGeom prst="line">
            <a:avLst/>
          </a:prstGeom>
          <a:ln w="19050" cap="flat" cmpd="sng" algn="ctr">
            <a:solidFill>
              <a:srgbClr val="2E5C8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05656" y="3210915"/>
            <a:ext cx="0" cy="128016"/>
          </a:xfrm>
          <a:prstGeom prst="line">
            <a:avLst/>
          </a:prstGeom>
          <a:ln w="19050" cap="flat" cmpd="sng" algn="ctr">
            <a:solidFill>
              <a:srgbClr val="2E5C8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41648" y="3338931"/>
            <a:ext cx="64008" cy="0"/>
          </a:xfrm>
          <a:prstGeom prst="line">
            <a:avLst/>
          </a:prstGeom>
          <a:ln w="19050" cap="flat" cmpd="sng" algn="ctr">
            <a:solidFill>
              <a:srgbClr val="2E5C8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78808" y="3197199"/>
            <a:ext cx="1188720" cy="155448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2E5C8A"/>
                </a:solidFill>
                <a:latin typeface="Calibri"/>
                <a:cs typeface="Calibri"/>
              </a:rPr>
              <a:t>Workshop demo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41648" y="3391052"/>
            <a:ext cx="64008" cy="0"/>
          </a:xfrm>
          <a:prstGeom prst="line">
            <a:avLst/>
          </a:prstGeom>
          <a:ln w="19050" cap="flat" cmpd="sng" algn="ctr">
            <a:solidFill>
              <a:srgbClr val="2E5C8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05656" y="3391052"/>
            <a:ext cx="0" cy="668426"/>
          </a:xfrm>
          <a:prstGeom prst="line">
            <a:avLst/>
          </a:prstGeom>
          <a:ln w="19050" cap="flat" cmpd="sng" algn="ctr">
            <a:solidFill>
              <a:srgbClr val="2E5C8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041648" y="4059478"/>
            <a:ext cx="64008" cy="0"/>
          </a:xfrm>
          <a:prstGeom prst="line">
            <a:avLst/>
          </a:prstGeom>
          <a:ln w="19050" cap="flat" cmpd="sng" algn="ctr">
            <a:solidFill>
              <a:srgbClr val="2E5C8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178808" y="3647541"/>
            <a:ext cx="1188720" cy="155448"/>
          </a:xfrm>
          <a:prstGeom prst="roundRect">
            <a:avLst>
              <a:gd name="adj" fmla="val 50000"/>
            </a:avLst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2A5C43"/>
                </a:solidFill>
                <a:latin typeface="Calibri"/>
                <a:cs typeface="Calibri"/>
              </a:rPr>
              <a:t>Lab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41648" y="4111599"/>
            <a:ext cx="64008" cy="0"/>
          </a:xfrm>
          <a:prstGeom prst="line">
            <a:avLst/>
          </a:prstGeom>
          <a:ln w="19050" cap="flat" cmpd="sng" algn="ctr">
            <a:solidFill>
              <a:srgbClr val="2E5C8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105656" y="4111599"/>
            <a:ext cx="0" cy="128016"/>
          </a:xfrm>
          <a:prstGeom prst="line">
            <a:avLst/>
          </a:prstGeom>
          <a:ln w="19050" cap="flat" cmpd="sng" algn="ctr">
            <a:solidFill>
              <a:srgbClr val="2E5C8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41648" y="4239615"/>
            <a:ext cx="64008" cy="0"/>
          </a:xfrm>
          <a:prstGeom prst="line">
            <a:avLst/>
          </a:prstGeom>
          <a:ln w="19050" cap="flat" cmpd="sng" algn="ctr">
            <a:solidFill>
              <a:srgbClr val="2E5C8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178808" y="4097883"/>
            <a:ext cx="1188720" cy="155448"/>
          </a:xfrm>
          <a:prstGeom prst="roundRect">
            <a:avLst>
              <a:gd name="adj" fmla="val 50000"/>
            </a:avLst>
          </a:prstGeom>
          <a:solidFill>
            <a:srgbClr val="FA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8C6239"/>
                </a:solidFill>
                <a:latin typeface="Calibri"/>
                <a:cs typeface="Calibri"/>
              </a:rPr>
              <a:t>Optional extras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41648" y="4291736"/>
            <a:ext cx="64008" cy="0"/>
          </a:xfrm>
          <a:prstGeom prst="line">
            <a:avLst/>
          </a:prstGeom>
          <a:ln w="19050" cap="flat" cmpd="sng" algn="ctr">
            <a:solidFill>
              <a:srgbClr val="2E5C8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105656" y="4291736"/>
            <a:ext cx="0" cy="128016"/>
          </a:xfrm>
          <a:prstGeom prst="line">
            <a:avLst/>
          </a:prstGeom>
          <a:ln w="19050" cap="flat" cmpd="sng" algn="ctr">
            <a:solidFill>
              <a:srgbClr val="2E5C8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041648" y="4419752"/>
            <a:ext cx="64008" cy="0"/>
          </a:xfrm>
          <a:prstGeom prst="line">
            <a:avLst/>
          </a:prstGeom>
          <a:ln w="19050" cap="flat" cmpd="sng" algn="ctr">
            <a:solidFill>
              <a:srgbClr val="2E5C8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178808" y="4278020"/>
            <a:ext cx="1188720" cy="155448"/>
          </a:xfrm>
          <a:prstGeom prst="roundRect">
            <a:avLst>
              <a:gd name="adj" fmla="val 50000"/>
            </a:avLst>
          </a:prstGeom>
          <a:solidFill>
            <a:srgbClr val="FA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8C6239"/>
                </a:solidFill>
                <a:latin typeface="Calibri"/>
                <a:cs typeface="Calibri"/>
              </a:rPr>
              <a:t>Read 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141732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2E3440"/>
                </a:solidFill>
                <a:latin typeface="Calibri"/>
                <a:cs typeface="Calibri"/>
              </a:rPr>
              <a:t>Every week</a:t>
            </a:r>
          </a:p>
        </p:txBody>
      </p:sp>
      <p:sp>
        <p:nvSpPr>
          <p:cNvPr id="27" name="Oval 26"/>
          <p:cNvSpPr/>
          <p:nvPr/>
        </p:nvSpPr>
        <p:spPr>
          <a:xfrm>
            <a:off x="5852160" y="1874519"/>
            <a:ext cx="475488" cy="475488"/>
          </a:xfrm>
          <a:prstGeom prst="ellipse">
            <a:avLst/>
          </a:prstGeom>
          <a:solidFill>
            <a:srgbClr val="19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con_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277" y="1988637"/>
            <a:ext cx="247253" cy="24725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73952" y="1856231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2E5C8A"/>
                </a:solidFill>
                <a:latin typeface="Calibri"/>
                <a:cs typeface="Calibri"/>
              </a:rPr>
              <a:t>Download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2112263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55585E"/>
                </a:solidFill>
                <a:latin typeface="Calibri"/>
                <a:cs typeface="Calibri"/>
              </a:rPr>
              <a:t>Get the week’s folder from Moodle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89904" y="2423160"/>
            <a:ext cx="0" cy="365760"/>
          </a:xfrm>
          <a:prstGeom prst="line">
            <a:avLst/>
          </a:prstGeom>
          <a:ln w="19050" cap="flat" cmpd="sng" algn="ctr">
            <a:solidFill>
              <a:srgbClr val="2E5C8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852160" y="2862072"/>
            <a:ext cx="475488" cy="475488"/>
          </a:xfrm>
          <a:prstGeom prst="ellipse">
            <a:avLst/>
          </a:prstGeom>
          <a:solidFill>
            <a:srgbClr val="19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con_fol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277" y="2976189"/>
            <a:ext cx="247253" cy="24725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73952" y="2843784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2E5C8A"/>
                </a:solidFill>
                <a:latin typeface="Calibri"/>
                <a:cs typeface="Calibri"/>
              </a:rPr>
              <a:t>Save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3099815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55585E"/>
                </a:solidFill>
                <a:latin typeface="Calibri"/>
                <a:cs typeface="Calibri"/>
              </a:rPr>
              <a:t>Put it inside your CST1510 folder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89904" y="3410712"/>
            <a:ext cx="0" cy="365760"/>
          </a:xfrm>
          <a:prstGeom prst="line">
            <a:avLst/>
          </a:prstGeom>
          <a:ln w="19050" cap="flat" cmpd="sng" algn="ctr">
            <a:solidFill>
              <a:srgbClr val="2E5C8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5852160" y="3849624"/>
            <a:ext cx="475488" cy="475488"/>
          </a:xfrm>
          <a:prstGeom prst="ellipse">
            <a:avLst/>
          </a:prstGeom>
          <a:solidFill>
            <a:srgbClr val="19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con_githu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6277" y="3963741"/>
            <a:ext cx="247253" cy="24725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473952" y="3831336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2E5C8A"/>
                </a:solidFill>
                <a:latin typeface="Calibri"/>
                <a:cs typeface="Calibri"/>
              </a:rPr>
              <a:t>Push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3952" y="4087368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55585E"/>
                </a:solidFill>
                <a:latin typeface="Calibri"/>
                <a:cs typeface="Calibri"/>
              </a:rPr>
              <a:t>Commit your lab work to GitHub</a:t>
            </a:r>
          </a:p>
        </p:txBody>
      </p:sp>
    </p:spTree>
    <p:extLst>
      <p:ext uri="{BB962C8B-B14F-4D97-AF65-F5344CB8AC3E}">
        <p14:creationId xmlns:p14="http://schemas.microsoft.com/office/powerpoint/2010/main" val="906365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1169551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endParaRPr lang="en-GB" sz="3200" b="1" i="0" dirty="0">
              <a:solidFill>
                <a:srgbClr val="1A2233"/>
              </a:solidFill>
              <a:latin typeface="Georgia"/>
            </a:endParaRPr>
          </a:p>
          <a:p>
            <a:r>
              <a:rPr sz="3200" b="1" i="0" dirty="0">
                <a:solidFill>
                  <a:srgbClr val="1A2233"/>
                </a:solidFill>
                <a:latin typeface="Georgia"/>
              </a:rPr>
              <a:t>How a normal week runs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64920"/>
            <a:ext cx="8229600" cy="0"/>
          </a:xfrm>
          <a:prstGeom prst="line">
            <a:avLst/>
          </a:prstGeom>
          <a:ln w="19050" cap="flat" cmpd="sng" algn="ctr">
            <a:solidFill>
              <a:srgbClr val="2E5C8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57200" y="1481328"/>
            <a:ext cx="1828800" cy="26974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21792" y="1664208"/>
            <a:ext cx="475488" cy="475488"/>
          </a:xfrm>
          <a:prstGeom prst="ellipse">
            <a:avLst/>
          </a:prstGeom>
          <a:solidFill>
            <a:srgbClr val="19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con_on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09" y="1778325"/>
            <a:ext cx="247253" cy="2472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8720" y="1732675"/>
            <a:ext cx="10058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200" b="1" i="0" dirty="0">
                <a:solidFill>
                  <a:srgbClr val="192133"/>
                </a:solidFill>
                <a:latin typeface="Georgia"/>
              </a:rPr>
              <a:t>2h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28600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2E3440"/>
                </a:solidFill>
                <a:latin typeface="Calibri"/>
                <a:cs typeface="Calibri"/>
              </a:rPr>
              <a:t>Online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651760"/>
            <a:ext cx="15544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28016" indent="-128016">
              <a:spcAft>
                <a:spcPts val="600"/>
              </a:spcAft>
              <a:buChar char="•"/>
            </a:pPr>
            <a:r>
              <a:rPr sz="1100" b="0" i="0">
                <a:solidFill>
                  <a:srgbClr val="55585E"/>
                </a:solidFill>
                <a:latin typeface="Calibri"/>
                <a:cs typeface="Calibri"/>
              </a:rPr>
              <a:t>Catch up on the week</a:t>
            </a:r>
          </a:p>
          <a:p>
            <a:pPr marL="128016" indent="-128016">
              <a:spcAft>
                <a:spcPts val="600"/>
              </a:spcAft>
              <a:buChar char="•"/>
            </a:pPr>
            <a:r>
              <a:rPr sz="1100" b="0" i="0">
                <a:solidFill>
                  <a:srgbClr val="55585E"/>
                </a:solidFill>
                <a:latin typeface="Calibri"/>
                <a:cs typeface="Calibri"/>
              </a:rPr>
              <a:t>Module updates</a:t>
            </a:r>
          </a:p>
        </p:txBody>
      </p:sp>
      <p:sp>
        <p:nvSpPr>
          <p:cNvPr id="10" name="Chevron 9"/>
          <p:cNvSpPr/>
          <p:nvPr/>
        </p:nvSpPr>
        <p:spPr>
          <a:xfrm>
            <a:off x="2350008" y="2720340"/>
            <a:ext cx="173736" cy="219456"/>
          </a:xfrm>
          <a:prstGeom prst="chevron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590495" y="1481328"/>
            <a:ext cx="1828800" cy="26974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755087" y="1664208"/>
            <a:ext cx="475488" cy="475488"/>
          </a:xfrm>
          <a:prstGeom prst="ellipse">
            <a:avLst/>
          </a:prstGeom>
          <a:solidFill>
            <a:srgbClr val="19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con_worksh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9204" y="1778325"/>
            <a:ext cx="247253" cy="24725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22015" y="1732675"/>
            <a:ext cx="10058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200" b="1" i="0" dirty="0">
                <a:solidFill>
                  <a:srgbClr val="192133"/>
                </a:solidFill>
                <a:latin typeface="Georgia"/>
              </a:rPr>
              <a:t>2h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5087" y="228600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2E3440"/>
                </a:solidFill>
                <a:latin typeface="Calibri"/>
                <a:cs typeface="Calibri"/>
              </a:rPr>
              <a:t>Workshop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5087" y="2651760"/>
            <a:ext cx="1554480" cy="1000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28016" indent="-128016">
              <a:spcAft>
                <a:spcPts val="600"/>
              </a:spcAft>
              <a:buChar char="•"/>
            </a:pPr>
            <a:r>
              <a:rPr sz="1100" b="0" i="0">
                <a:solidFill>
                  <a:srgbClr val="55585E"/>
                </a:solidFill>
                <a:latin typeface="Calibri"/>
                <a:cs typeface="Calibri"/>
              </a:rPr>
              <a:t>A running demo first: see the finished version</a:t>
            </a:r>
          </a:p>
          <a:p>
            <a:pPr marL="128016" indent="-128016">
              <a:spcAft>
                <a:spcPts val="600"/>
              </a:spcAft>
              <a:buChar char="•"/>
            </a:pPr>
            <a:r>
              <a:rPr sz="1100" b="0" i="0">
                <a:solidFill>
                  <a:srgbClr val="55585E"/>
                </a:solidFill>
                <a:latin typeface="Calibri"/>
                <a:cs typeface="Calibri"/>
              </a:rPr>
              <a:t>Four short topics</a:t>
            </a:r>
          </a:p>
          <a:p>
            <a:pPr marL="128016" indent="-128016">
              <a:spcAft>
                <a:spcPts val="600"/>
              </a:spcAft>
              <a:buChar char="•"/>
            </a:pPr>
            <a:r>
              <a:rPr sz="1100" b="0" i="0">
                <a:solidFill>
                  <a:srgbClr val="55585E"/>
                </a:solidFill>
                <a:latin typeface="Calibri"/>
                <a:cs typeface="Calibri"/>
              </a:rPr>
              <a:t>A “your turn” after every idea</a:t>
            </a:r>
          </a:p>
        </p:txBody>
      </p:sp>
      <p:sp>
        <p:nvSpPr>
          <p:cNvPr id="17" name="Chevron 16"/>
          <p:cNvSpPr/>
          <p:nvPr/>
        </p:nvSpPr>
        <p:spPr>
          <a:xfrm>
            <a:off x="4483303" y="2720340"/>
            <a:ext cx="173736" cy="219456"/>
          </a:xfrm>
          <a:prstGeom prst="chevron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23790" y="1481328"/>
            <a:ext cx="1828800" cy="26974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888382" y="1664208"/>
            <a:ext cx="475488" cy="475488"/>
          </a:xfrm>
          <a:prstGeom prst="ellipse">
            <a:avLst/>
          </a:prstGeom>
          <a:solidFill>
            <a:srgbClr val="19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con_la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2499" y="1778325"/>
            <a:ext cx="247253" cy="24725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55310" y="1732675"/>
            <a:ext cx="10058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200" b="1" i="0" dirty="0">
                <a:solidFill>
                  <a:srgbClr val="192133"/>
                </a:solidFill>
                <a:latin typeface="Georgia"/>
              </a:rPr>
              <a:t>3h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8382" y="228600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2E3440"/>
                </a:solidFill>
                <a:latin typeface="Calibri"/>
                <a:cs typeface="Calibri"/>
              </a:rPr>
              <a:t>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8382" y="2651760"/>
            <a:ext cx="15544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28016" indent="-128016">
              <a:spcAft>
                <a:spcPts val="600"/>
              </a:spcAft>
              <a:buChar char="•"/>
            </a:pPr>
            <a:r>
              <a:rPr sz="1100" b="0" i="0">
                <a:solidFill>
                  <a:srgbClr val="55585E"/>
                </a:solidFill>
                <a:latin typeface="Calibri"/>
                <a:cs typeface="Calibri"/>
              </a:rPr>
              <a:t>Fix three deliberately broken files</a:t>
            </a:r>
          </a:p>
          <a:p>
            <a:pPr marL="128016" indent="-128016">
              <a:spcAft>
                <a:spcPts val="600"/>
              </a:spcAft>
              <a:buChar char="•"/>
            </a:pPr>
            <a:r>
              <a:rPr sz="1100" b="0" i="0">
                <a:solidFill>
                  <a:srgbClr val="55585E"/>
                </a:solidFill>
                <a:latin typeface="Calibri"/>
                <a:cs typeface="Calibri"/>
              </a:rPr>
              <a:t>Jupyter notebook drills</a:t>
            </a:r>
          </a:p>
          <a:p>
            <a:pPr marL="128016" indent="-128016">
              <a:spcAft>
                <a:spcPts val="600"/>
              </a:spcAft>
              <a:buChar char="•"/>
            </a:pPr>
            <a:r>
              <a:rPr sz="1100" b="0" i="0">
                <a:solidFill>
                  <a:srgbClr val="55585E"/>
                </a:solidFill>
                <a:latin typeface="Calibri"/>
                <a:cs typeface="Calibri"/>
              </a:rPr>
              <a:t>Tiered mini-project</a:t>
            </a:r>
          </a:p>
          <a:p>
            <a:pPr marL="128016" indent="-128016">
              <a:spcAft>
                <a:spcPts val="600"/>
              </a:spcAft>
              <a:buChar char="•"/>
            </a:pPr>
            <a:r>
              <a:rPr sz="1100" b="0" i="0">
                <a:solidFill>
                  <a:srgbClr val="55585E"/>
                </a:solidFill>
                <a:latin typeface="Calibri"/>
                <a:cs typeface="Calibri"/>
              </a:rPr>
              <a:t>A handwritten journal entry</a:t>
            </a:r>
          </a:p>
        </p:txBody>
      </p:sp>
      <p:sp>
        <p:nvSpPr>
          <p:cNvPr id="24" name="Chevron 23"/>
          <p:cNvSpPr/>
          <p:nvPr/>
        </p:nvSpPr>
        <p:spPr>
          <a:xfrm>
            <a:off x="6616598" y="2720340"/>
            <a:ext cx="173736" cy="219456"/>
          </a:xfrm>
          <a:prstGeom prst="chevron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857085" y="1481328"/>
            <a:ext cx="1828800" cy="26974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21677" y="1664208"/>
            <a:ext cx="475488" cy="475488"/>
          </a:xfrm>
          <a:prstGeom prst="ellipse">
            <a:avLst/>
          </a:prstGeom>
          <a:solidFill>
            <a:srgbClr val="19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con_githu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5794" y="1778325"/>
            <a:ext cx="247253" cy="24725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588605" y="1732675"/>
            <a:ext cx="10058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200" b="1" i="0" dirty="0">
                <a:solidFill>
                  <a:srgbClr val="192133"/>
                </a:solidFill>
                <a:latin typeface="Georgia"/>
              </a:rPr>
              <a:t>Push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1677" y="228600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2E3440"/>
                </a:solidFill>
                <a:latin typeface="Calibri"/>
                <a:cs typeface="Calibri"/>
              </a:rPr>
              <a:t>GitHub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1677" y="2651760"/>
            <a:ext cx="15544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28016" indent="-128016">
              <a:spcAft>
                <a:spcPts val="600"/>
              </a:spcAft>
              <a:buChar char="•"/>
            </a:pPr>
            <a:r>
              <a:rPr sz="1100" b="0" i="0">
                <a:solidFill>
                  <a:srgbClr val="55585E"/>
                </a:solidFill>
                <a:latin typeface="Calibri"/>
                <a:cs typeface="Calibri"/>
              </a:rPr>
              <a:t>Push your lab results to your own repository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 i="1">
                <a:solidFill>
                  <a:srgbClr val="55585E"/>
                </a:solidFill>
                <a:latin typeface="Calibri"/>
                <a:cs typeface="Calibri"/>
              </a:rPr>
              <a:t>Every week follows this same shape.</a:t>
            </a:r>
          </a:p>
        </p:txBody>
      </p:sp>
    </p:spTree>
    <p:extLst>
      <p:ext uri="{BB962C8B-B14F-4D97-AF65-F5344CB8AC3E}">
        <p14:creationId xmlns:p14="http://schemas.microsoft.com/office/powerpoint/2010/main" val="4174863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4800"/>
            <a:ext cx="8229600" cy="96012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/>
            <a:endParaRPr lang="en-GB" sz="3200" b="1" dirty="0">
              <a:solidFill>
                <a:srgbClr val="1A2233"/>
              </a:solidFill>
              <a:latin typeface="Georgia"/>
            </a:endParaRPr>
          </a:p>
          <a:p>
            <a:pPr algn="l"/>
            <a:r>
              <a:rPr lang="en-GB" sz="3200" b="1" dirty="0">
                <a:solidFill>
                  <a:srgbClr val="1A2233"/>
                </a:solidFill>
                <a:latin typeface="Georgia"/>
              </a:rPr>
              <a:t>Online drop-in sessions</a:t>
            </a:r>
            <a:endParaRPr sz="3200" b="1" dirty="0">
              <a:solidFill>
                <a:srgbClr val="1A2233"/>
              </a:solidFill>
              <a:latin typeface="Georgia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457200" y="1264920"/>
            <a:ext cx="8229600" cy="0"/>
          </a:xfrm>
          <a:prstGeom prst="line">
            <a:avLst/>
          </a:prstGeom>
          <a:ln w="19050" cap="flat" cmpd="sng" algn="ctr">
            <a:solidFill>
              <a:srgbClr val="2E5C8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440180"/>
            <a:ext cx="8229600" cy="342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Use the weekly </a:t>
            </a:r>
            <a:r>
              <a:rPr lang="en-GB" sz="1600" b="1" dirty="0"/>
              <a:t>online drop-in sessions</a:t>
            </a:r>
            <a:r>
              <a:rPr lang="en-GB" sz="1600" dirty="0"/>
              <a:t> for additional support, questions and feedback.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Before the drop-in:</a:t>
            </a:r>
            <a:r>
              <a:rPr lang="en-GB" sz="1600" dirty="0"/>
              <a:t> If you have a question but do not want to ask it during the online session, email your question to me in advance. I can address general questions anonymously so that everyone can benefit from the answer.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During the drop-in:</a:t>
            </a:r>
            <a:r>
              <a:rPr lang="en-GB" sz="1600" dirty="0"/>
              <a:t> Ask questions about the topics covered in the week's </a:t>
            </a:r>
            <a:r>
              <a:rPr lang="en-GB" sz="1600" b="1" dirty="0"/>
              <a:t>teaching and lab sessions</a:t>
            </a:r>
            <a:r>
              <a:rPr lang="en-GB" sz="1600" dirty="0"/>
              <a:t>, including problems you encountered while completing your tasks.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Need individual support?</a:t>
            </a:r>
            <a:r>
              <a:rPr lang="en-GB" sz="1600" dirty="0"/>
              <a:t> If you would prefer to discuss something privately or in person, please see me during my </a:t>
            </a:r>
            <a:r>
              <a:rPr lang="en-GB" sz="1600" b="1" dirty="0"/>
              <a:t>office hours</a:t>
            </a:r>
            <a:r>
              <a:rPr lang="en-GB" sz="16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33723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7BCD3-E9EB-23C4-08B5-4518EBCBB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65CA70-4311-55AA-614C-853072052AD3}"/>
              </a:ext>
            </a:extLst>
          </p:cNvPr>
          <p:cNvSpPr txBox="1"/>
          <p:nvPr/>
        </p:nvSpPr>
        <p:spPr>
          <a:xfrm>
            <a:off x="457199" y="304800"/>
            <a:ext cx="8229600" cy="96012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/>
            <a:endParaRPr lang="en-GB" sz="3200" b="1" dirty="0">
              <a:solidFill>
                <a:srgbClr val="1A2233"/>
              </a:solidFill>
              <a:latin typeface="Georgia"/>
            </a:endParaRPr>
          </a:p>
          <a:p>
            <a:pPr algn="l"/>
            <a:r>
              <a:rPr lang="en-GB" sz="3200" b="1" dirty="0">
                <a:solidFill>
                  <a:srgbClr val="1A2233"/>
                </a:solidFill>
                <a:latin typeface="Georgia"/>
              </a:rPr>
              <a:t>Resources</a:t>
            </a:r>
            <a:endParaRPr sz="3200" b="1" dirty="0">
              <a:solidFill>
                <a:srgbClr val="1A2233"/>
              </a:solidFill>
              <a:latin typeface="Georgia"/>
            </a:endParaRPr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40C35F80-6471-0C45-2822-3FC16C3EA584}"/>
              </a:ext>
            </a:extLst>
          </p:cNvPr>
          <p:cNvCxnSpPr/>
          <p:nvPr/>
        </p:nvCxnSpPr>
        <p:spPr>
          <a:xfrm>
            <a:off x="457200" y="1264920"/>
            <a:ext cx="8229600" cy="0"/>
          </a:xfrm>
          <a:prstGeom prst="line">
            <a:avLst/>
          </a:prstGeom>
          <a:ln w="19050" cap="flat" cmpd="sng" algn="ctr">
            <a:solidFill>
              <a:srgbClr val="2E5C8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4C5CBC3-19DD-5D33-091C-D74178E4FBC4}"/>
              </a:ext>
            </a:extLst>
          </p:cNvPr>
          <p:cNvSpPr txBox="1"/>
          <p:nvPr/>
        </p:nvSpPr>
        <p:spPr>
          <a:xfrm>
            <a:off x="457199" y="1600200"/>
            <a:ext cx="8229599" cy="254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GB" sz="1400" dirty="0"/>
              <a:t>The following are the </a:t>
            </a:r>
            <a:r>
              <a:rPr lang="en-GB" sz="1400" b="1" dirty="0"/>
              <a:t>main learning resources</a:t>
            </a:r>
            <a:r>
              <a:rPr lang="en-GB" sz="1400" dirty="0"/>
              <a:t> for this module. Use them alongside the weekly teaching materials, lab activities and examples provided on MyLearning.</a:t>
            </a:r>
          </a:p>
          <a:p>
            <a:endParaRPr lang="en-GB" sz="1400" b="1" dirty="0"/>
          </a:p>
          <a:p>
            <a:r>
              <a:rPr lang="en-GB" sz="1400" b="1" dirty="0"/>
              <a:t>Mark Lutz — </a:t>
            </a:r>
            <a:r>
              <a:rPr lang="en-GB" sz="1400" b="1" i="1" dirty="0"/>
              <a:t>Learning Python</a:t>
            </a:r>
            <a:br>
              <a:rPr lang="en-GB" sz="1400" dirty="0"/>
            </a:br>
            <a:r>
              <a:rPr lang="en-GB" sz="1400" dirty="0"/>
              <a:t>A comprehensive reference for Python programming. Use this book to explore topics in greater depth and reinforce concepts introduced during the module.</a:t>
            </a:r>
          </a:p>
          <a:p>
            <a:endParaRPr lang="en-GB" sz="1400" dirty="0"/>
          </a:p>
          <a:p>
            <a:r>
              <a:rPr lang="en-GB" sz="1400" b="1" dirty="0"/>
              <a:t>Cory Althoff — </a:t>
            </a:r>
            <a:r>
              <a:rPr lang="en-GB" sz="1400" b="1" i="1" dirty="0"/>
              <a:t>The Self-Taught Programmer</a:t>
            </a:r>
            <a:br>
              <a:rPr lang="en-GB" sz="1400" dirty="0"/>
            </a:br>
            <a:r>
              <a:rPr lang="en-GB" sz="1400" dirty="0"/>
              <a:t>A practical introduction to programming and professional development. Particularly useful for developing good programming habits and learning how to approach problems independently.</a:t>
            </a:r>
          </a:p>
          <a:p>
            <a:endParaRPr lang="en-GB" sz="1400" b="1" dirty="0"/>
          </a:p>
          <a:p>
            <a:r>
              <a:rPr lang="en-GB" sz="1400" b="1" dirty="0"/>
              <a:t>Official Python Documentation — </a:t>
            </a:r>
            <a:r>
              <a:rPr lang="en-GB" sz="1400" b="1" dirty="0" err="1"/>
              <a:t>Python.org</a:t>
            </a:r>
            <a:br>
              <a:rPr lang="en-GB" sz="1400" dirty="0"/>
            </a:br>
            <a:r>
              <a:rPr lang="en-GB" sz="1400" dirty="0"/>
              <a:t>The official reference for the Python language and its standard library. You are encouraged to become</a:t>
            </a:r>
          </a:p>
        </p:txBody>
      </p:sp>
    </p:spTree>
    <p:extLst>
      <p:ext uri="{BB962C8B-B14F-4D97-AF65-F5344CB8AC3E}">
        <p14:creationId xmlns:p14="http://schemas.microsoft.com/office/powerpoint/2010/main" val="1782718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96012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/>
            <a:endParaRPr lang="en-GB" sz="3200" b="1" dirty="0">
              <a:solidFill>
                <a:srgbClr val="1A2233"/>
              </a:solidFill>
              <a:latin typeface="Georgia"/>
            </a:endParaRPr>
          </a:p>
          <a:p>
            <a:pPr algn="l"/>
            <a:r>
              <a:rPr sz="3200" b="1" dirty="0">
                <a:solidFill>
                  <a:srgbClr val="1A2233"/>
                </a:solidFill>
                <a:latin typeface="Georgia"/>
              </a:rPr>
              <a:t>What this module expects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64920"/>
            <a:ext cx="8229600" cy="0"/>
          </a:xfrm>
          <a:prstGeom prst="line">
            <a:avLst/>
          </a:prstGeom>
          <a:ln w="19050" cap="flat" cmpd="sng" algn="ctr">
            <a:solidFill>
              <a:srgbClr val="2E5C8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371600"/>
            <a:ext cx="8229600" cy="342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•  </a:t>
            </a:r>
            <a:r>
              <a:rPr sz="1500" b="0" dirty="0">
                <a:solidFill>
                  <a:srgbClr val="000000"/>
                </a:solidFill>
                <a:latin typeface="Calibri"/>
                <a:cs typeface="Calibri"/>
              </a:rPr>
              <a:t>Bring a laptop that is set up — </a:t>
            </a:r>
            <a:r>
              <a:rPr sz="1500" b="1" dirty="0">
                <a:solidFill>
                  <a:srgbClr val="000000"/>
                </a:solidFill>
                <a:latin typeface="Calibri"/>
                <a:cs typeface="Calibri"/>
              </a:rPr>
              <a:t>that is what today's session is for</a:t>
            </a:r>
            <a:r>
              <a:rPr sz="1500" b="0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•  </a:t>
            </a:r>
            <a:r>
              <a:rPr sz="1500" b="0" dirty="0">
                <a:solidFill>
                  <a:srgbClr val="000000"/>
                </a:solidFill>
                <a:latin typeface="Calibri"/>
                <a:cs typeface="Calibri"/>
              </a:rPr>
              <a:t>Expect errors every week.</a:t>
            </a:r>
          </a:p>
          <a:p>
            <a:pPr lvl="1">
              <a:spcAft>
                <a:spcPts val="800"/>
              </a:spcAft>
            </a:pPr>
            <a:r>
              <a:rPr sz="1300" dirty="0">
                <a:solidFill>
                  <a:srgbClr val="404040"/>
                </a:solidFill>
                <a:latin typeface="Calibri"/>
                <a:cs typeface="Calibri"/>
              </a:rPr>
              <a:t>     –  </a:t>
            </a:r>
            <a:r>
              <a:rPr sz="1300" b="0" dirty="0">
                <a:solidFill>
                  <a:srgbClr val="000000"/>
                </a:solidFill>
                <a:latin typeface="Calibri"/>
                <a:cs typeface="Calibri"/>
              </a:rPr>
              <a:t>Each lab starts with broken code on purpose</a:t>
            </a:r>
          </a:p>
          <a:p>
            <a:pPr lvl="1">
              <a:spcAft>
                <a:spcPts val="800"/>
              </a:spcAft>
            </a:pPr>
            <a:r>
              <a:rPr sz="1300" dirty="0">
                <a:solidFill>
                  <a:srgbClr val="404040"/>
                </a:solidFill>
                <a:latin typeface="Calibri"/>
                <a:cs typeface="Calibri"/>
              </a:rPr>
              <a:t>     –  </a:t>
            </a:r>
            <a:r>
              <a:rPr sz="1300" b="0" dirty="0">
                <a:solidFill>
                  <a:srgbClr val="000000"/>
                </a:solidFill>
                <a:latin typeface="Calibri"/>
                <a:cs typeface="Calibri"/>
              </a:rPr>
              <a:t>You are not expected to get it right first time</a:t>
            </a:r>
          </a:p>
          <a:p>
            <a:pPr>
              <a:spcAft>
                <a:spcPts val="800"/>
              </a:spcAft>
            </a:pP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•  </a:t>
            </a:r>
            <a:r>
              <a:rPr sz="1500" b="0" dirty="0">
                <a:solidFill>
                  <a:srgbClr val="000000"/>
                </a:solidFill>
                <a:latin typeface="Calibri"/>
                <a:cs typeface="Calibri"/>
              </a:rPr>
              <a:t>The Cheat Sheet is handwritten on paper and photographed.</a:t>
            </a:r>
          </a:p>
          <a:p>
            <a:pPr lvl="1">
              <a:spcAft>
                <a:spcPts val="800"/>
              </a:spcAft>
            </a:pPr>
            <a:r>
              <a:rPr sz="1300" dirty="0">
                <a:solidFill>
                  <a:srgbClr val="404040"/>
                </a:solidFill>
                <a:latin typeface="Calibri"/>
                <a:cs typeface="Calibri"/>
              </a:rPr>
              <a:t>     –  </a:t>
            </a:r>
            <a:r>
              <a:rPr sz="1300" b="0" dirty="0">
                <a:solidFill>
                  <a:srgbClr val="000000"/>
                </a:solidFill>
                <a:latin typeface="Calibri"/>
                <a:cs typeface="Calibri"/>
              </a:rPr>
              <a:t>Not typed, not copied from a slide, and not generated using GenAI</a:t>
            </a:r>
          </a:p>
          <a:p>
            <a:pPr>
              <a:spcAft>
                <a:spcPts val="800"/>
              </a:spcAft>
            </a:pP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•  </a:t>
            </a:r>
            <a:r>
              <a:rPr sz="1500" b="0" dirty="0">
                <a:solidFill>
                  <a:srgbClr val="000000"/>
                </a:solidFill>
                <a:latin typeface="Calibri"/>
                <a:cs typeface="Calibri"/>
              </a:rPr>
              <a:t>The work uses real tools, not toy examples.</a:t>
            </a:r>
          </a:p>
          <a:p>
            <a:pPr lvl="1">
              <a:spcAft>
                <a:spcPts val="800"/>
              </a:spcAft>
            </a:pPr>
            <a:r>
              <a:rPr sz="1300" dirty="0">
                <a:solidFill>
                  <a:srgbClr val="404040"/>
                </a:solidFill>
                <a:latin typeface="Calibri"/>
                <a:cs typeface="Calibri"/>
              </a:rPr>
              <a:t>     –  </a:t>
            </a:r>
            <a:r>
              <a:rPr sz="1300" b="0" dirty="0">
                <a:solidFill>
                  <a:srgbClr val="000000"/>
                </a:solidFill>
                <a:latin typeface="Calibri"/>
                <a:cs typeface="Calibri"/>
              </a:rPr>
              <a:t>Real bcrypt hashing, and a SQL injection you exploit and then fix</a:t>
            </a:r>
          </a:p>
          <a:p>
            <a:pPr lvl="1">
              <a:spcAft>
                <a:spcPts val="800"/>
              </a:spcAft>
            </a:pPr>
            <a:r>
              <a:rPr sz="1300" dirty="0">
                <a:solidFill>
                  <a:srgbClr val="404040"/>
                </a:solidFill>
                <a:latin typeface="Calibri"/>
                <a:cs typeface="Calibri"/>
              </a:rPr>
              <a:t>     –  </a:t>
            </a:r>
            <a:r>
              <a:rPr sz="1300" b="0" dirty="0">
                <a:solidFill>
                  <a:srgbClr val="000000"/>
                </a:solidFill>
                <a:latin typeface="Calibri"/>
                <a:cs typeface="Calibri"/>
              </a:rPr>
              <a:t>The dashboard you deploy in Week 11 gets a public URL you can use on your CV</a:t>
            </a:r>
          </a:p>
        </p:txBody>
      </p:sp>
    </p:spTree>
    <p:extLst>
      <p:ext uri="{BB962C8B-B14F-4D97-AF65-F5344CB8AC3E}">
        <p14:creationId xmlns:p14="http://schemas.microsoft.com/office/powerpoint/2010/main" val="958564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9400"/>
            <a:ext cx="8229600" cy="7874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/>
            <a:r>
              <a:rPr sz="3600" b="1" dirty="0">
                <a:solidFill>
                  <a:srgbClr val="1A2233"/>
                </a:solidFill>
                <a:latin typeface="Georgia"/>
              </a:rPr>
              <a:t>Twelve weeks. One app. Your name on it.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64920"/>
            <a:ext cx="8229600" cy="0"/>
          </a:xfrm>
          <a:prstGeom prst="line">
            <a:avLst/>
          </a:prstGeom>
          <a:ln w="19050" cap="flat" cmpd="sng" algn="ctr">
            <a:solidFill>
              <a:srgbClr val="2E5C8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397000"/>
            <a:ext cx="82296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0"/>
              </a:spcAft>
            </a:pPr>
            <a:r>
              <a:rPr sz="1700" dirty="0">
                <a:solidFill>
                  <a:srgbClr val="2E5C8A"/>
                </a:solidFill>
                <a:latin typeface="Calibri"/>
                <a:cs typeface="Calibri"/>
              </a:rPr>
              <a:t>You start this module printing one line of text. You finish it sending someone a link to software you built, secured and deployed yourself.</a:t>
            </a:r>
          </a:p>
        </p:txBody>
      </p:sp>
      <p:sp>
        <p:nvSpPr>
          <p:cNvPr id="50" name="Card 50"/>
          <p:cNvSpPr/>
          <p:nvPr/>
        </p:nvSpPr>
        <p:spPr>
          <a:xfrm>
            <a:off x="457200" y="2260600"/>
            <a:ext cx="2616200" cy="1447800"/>
          </a:xfrm>
          <a:prstGeom prst="rect">
            <a:avLst/>
          </a:prstGeom>
          <a:solidFill>
            <a:srgbClr val="F2EFE8"/>
          </a:solidFill>
          <a:ln w="12700">
            <a:noFill/>
          </a:ln>
        </p:spPr>
        <p:txBody>
          <a:bodyPr wrap="square" lIns="152400" tIns="152400" rIns="152400" bIns="152400" anchor="t"/>
          <a:lstStyle/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2E5C8A"/>
                </a:solidFill>
                <a:latin typeface="Georgia"/>
              </a:rPr>
              <a:t>Build it</a:t>
            </a:r>
          </a:p>
          <a:p>
            <a:pPr algn="l"/>
            <a:r>
              <a:rPr sz="1300" dirty="0">
                <a:solidFill>
                  <a:srgbClr val="1A2233"/>
                </a:solidFill>
                <a:latin typeface="Calibri"/>
                <a:cs typeface="Calibri"/>
              </a:rPr>
              <a:t>Python from the ground up — logic, functions, objects, and real data with pandas.</a:t>
            </a:r>
          </a:p>
        </p:txBody>
      </p:sp>
      <p:sp>
        <p:nvSpPr>
          <p:cNvPr id="51" name="Bar 51"/>
          <p:cNvSpPr/>
          <p:nvPr/>
        </p:nvSpPr>
        <p:spPr>
          <a:xfrm>
            <a:off x="457200" y="2260600"/>
            <a:ext cx="2616200" cy="508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Card 52"/>
          <p:cNvSpPr/>
          <p:nvPr/>
        </p:nvSpPr>
        <p:spPr>
          <a:xfrm>
            <a:off x="3263900" y="2260600"/>
            <a:ext cx="2616200" cy="1447800"/>
          </a:xfrm>
          <a:prstGeom prst="rect">
            <a:avLst/>
          </a:prstGeom>
          <a:solidFill>
            <a:srgbClr val="F2EFE8"/>
          </a:solidFill>
          <a:ln w="12700">
            <a:noFill/>
          </a:ln>
        </p:spPr>
        <p:txBody>
          <a:bodyPr wrap="square" lIns="152400" tIns="152400" rIns="152400" bIns="152400" anchor="t"/>
          <a:lstStyle/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2E5C8A"/>
                </a:solidFill>
                <a:latin typeface="Georgia"/>
              </a:rPr>
              <a:t>Break it</a:t>
            </a:r>
          </a:p>
          <a:p>
            <a:pPr algn="l"/>
            <a:r>
              <a:rPr sz="1300" dirty="0">
                <a:solidFill>
                  <a:srgbClr val="1A2233"/>
                </a:solidFill>
                <a:latin typeface="Calibri"/>
                <a:cs typeface="Calibri"/>
              </a:rPr>
              <a:t>Hash passwords with bcrypt. Exploit a SQL injection, then close it yourself.</a:t>
            </a:r>
          </a:p>
        </p:txBody>
      </p:sp>
      <p:sp>
        <p:nvSpPr>
          <p:cNvPr id="53" name="Bar 53"/>
          <p:cNvSpPr/>
          <p:nvPr/>
        </p:nvSpPr>
        <p:spPr>
          <a:xfrm>
            <a:off x="3263900" y="2260600"/>
            <a:ext cx="2616200" cy="508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Card 54"/>
          <p:cNvSpPr/>
          <p:nvPr/>
        </p:nvSpPr>
        <p:spPr>
          <a:xfrm>
            <a:off x="6070600" y="2260600"/>
            <a:ext cx="2616200" cy="1447800"/>
          </a:xfrm>
          <a:prstGeom prst="rect">
            <a:avLst/>
          </a:prstGeom>
          <a:solidFill>
            <a:srgbClr val="F2EFE8"/>
          </a:solidFill>
          <a:ln w="12700">
            <a:noFill/>
          </a:ln>
        </p:spPr>
        <p:txBody>
          <a:bodyPr wrap="square" lIns="152400" tIns="152400" rIns="152400" bIns="152400" anchor="t"/>
          <a:lstStyle/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2E5C8A"/>
                </a:solidFill>
                <a:latin typeface="Georgia"/>
              </a:rPr>
              <a:t>Ship it</a:t>
            </a:r>
          </a:p>
          <a:p>
            <a:pPr algn="l"/>
            <a:r>
              <a:rPr sz="1300" dirty="0">
                <a:solidFill>
                  <a:srgbClr val="1A2233"/>
                </a:solidFill>
                <a:latin typeface="Calibri"/>
                <a:cs typeface="Calibri"/>
              </a:rPr>
              <a:t>Deploy a live dashboard in your lane: AI and Data Science, Cyber Security, or IT.</a:t>
            </a:r>
          </a:p>
        </p:txBody>
      </p:sp>
      <p:sp>
        <p:nvSpPr>
          <p:cNvPr id="55" name="Bar 55"/>
          <p:cNvSpPr/>
          <p:nvPr/>
        </p:nvSpPr>
        <p:spPr>
          <a:xfrm>
            <a:off x="6070600" y="2260600"/>
            <a:ext cx="2616200" cy="508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Kicker"/>
          <p:cNvSpPr txBox="1"/>
          <p:nvPr/>
        </p:nvSpPr>
        <p:spPr>
          <a:xfrm>
            <a:off x="457200" y="3962400"/>
            <a:ext cx="8229600" cy="330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No toy examples. Twelve weeks of work, in your own GitHub repository, that you can show someone.</a:t>
            </a:r>
          </a:p>
        </p:txBody>
      </p:sp>
    </p:spTree>
    <p:extLst>
      <p:ext uri="{BB962C8B-B14F-4D97-AF65-F5344CB8AC3E}">
        <p14:creationId xmlns:p14="http://schemas.microsoft.com/office/powerpoint/2010/main" val="367581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96012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/>
            <a:endParaRPr lang="en-GB" sz="3200" b="1" dirty="0">
              <a:solidFill>
                <a:srgbClr val="1A2233"/>
              </a:solidFill>
              <a:latin typeface="Georgia"/>
            </a:endParaRPr>
          </a:p>
          <a:p>
            <a:pPr algn="l"/>
            <a:r>
              <a:rPr lang="en-GB" sz="3200" b="1" dirty="0">
                <a:solidFill>
                  <a:srgbClr val="1A2233"/>
                </a:solidFill>
                <a:latin typeface="Georgia"/>
              </a:rPr>
              <a:t>Assessments</a:t>
            </a:r>
            <a:endParaRPr sz="3200" b="1" dirty="0">
              <a:solidFill>
                <a:srgbClr val="1A2233"/>
              </a:solidFill>
              <a:latin typeface="Georgia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457200" y="1264920"/>
            <a:ext cx="8229600" cy="0"/>
          </a:xfrm>
          <a:prstGeom prst="line">
            <a:avLst/>
          </a:prstGeom>
          <a:ln w="19050" cap="flat" cmpd="sng" algn="ctr">
            <a:solidFill>
              <a:srgbClr val="2E5C8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600200"/>
            <a:ext cx="3937000" cy="254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buNone/>
            </a:pPr>
            <a:r>
              <a:rPr lang="en-GB" sz="1400" b="1" dirty="0">
                <a:solidFill>
                  <a:srgbClr val="1A2233"/>
                </a:solidFill>
              </a:rPr>
              <a:t>Formative feedback</a:t>
            </a:r>
          </a:p>
          <a:p>
            <a:pPr>
              <a:buNone/>
            </a:pPr>
            <a:endParaRPr lang="en-GB" sz="1400" b="1" dirty="0">
              <a:solidFill>
                <a:srgbClr val="1A2233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GB" sz="1200" dirty="0">
                <a:solidFill>
                  <a:srgbClr val="353B45"/>
                </a:solidFill>
              </a:rPr>
              <a:t>Continuous, not tied to fixed checkpoints — feedback happens </a:t>
            </a:r>
            <a:r>
              <a:rPr lang="en-GB" sz="1200" b="1" dirty="0">
                <a:solidFill>
                  <a:srgbClr val="353B45"/>
                </a:solidFill>
              </a:rPr>
              <a:t>every week, in the lab session.</a:t>
            </a:r>
          </a:p>
          <a:p>
            <a:pPr marL="171450" indent="-171450">
              <a:buFont typeface="Arial"/>
              <a:buChar char="•"/>
            </a:pPr>
            <a:endParaRPr lang="en-GB" sz="1200" b="1" dirty="0">
              <a:solidFill>
                <a:srgbClr val="353B45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GB" sz="1200" b="1" dirty="0">
                <a:solidFill>
                  <a:srgbClr val="353B45"/>
                </a:solidFill>
              </a:rPr>
              <a:t>Git commit and push must happen after the lab session, or on the same day.</a:t>
            </a:r>
            <a:r>
              <a:rPr lang="en-GB" sz="1200" dirty="0">
                <a:solidFill>
                  <a:srgbClr val="353B45"/>
                </a:solidFill>
              </a:rPr>
              <a:t> This is also your weekly evidence of progress — a tutor can see it was done, in order, on time.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613C7-701C-B94B-8210-AF5E37934E90}"/>
              </a:ext>
            </a:extLst>
          </p:cNvPr>
          <p:cNvSpPr txBox="1"/>
          <p:nvPr/>
        </p:nvSpPr>
        <p:spPr>
          <a:xfrm>
            <a:off x="4749800" y="1600200"/>
            <a:ext cx="3937000" cy="254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GB" sz="1400" b="1" dirty="0">
                <a:solidFill>
                  <a:srgbClr val="1A2233"/>
                </a:solidFill>
              </a:rPr>
              <a:t>Summative — two courseworks, individual</a:t>
            </a:r>
          </a:p>
          <a:p>
            <a:pPr>
              <a:buNone/>
            </a:pPr>
            <a:endParaRPr lang="en-GB" sz="1400" b="1" dirty="0">
              <a:solidFill>
                <a:srgbClr val="1A2233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GB" sz="1200" b="1" dirty="0">
                <a:solidFill>
                  <a:srgbClr val="353B45"/>
                </a:solidFill>
              </a:rPr>
              <a:t>CW1 (Weeks 1–7):</a:t>
            </a:r>
            <a:r>
              <a:rPr lang="en-GB" sz="1200" dirty="0">
                <a:solidFill>
                  <a:srgbClr val="353B45"/>
                </a:solidFill>
              </a:rPr>
              <a:t> a small, tiered mini-project every week (Threshold / Typical / Excellent), plus the handwritten Cheat Sheet built up one box at a time — evidenced through your weekly GitHub commits.</a:t>
            </a:r>
          </a:p>
          <a:p>
            <a:pPr marL="171450" indent="-171450">
              <a:buFont typeface="Arial"/>
              <a:buChar char="•"/>
            </a:pPr>
            <a:endParaRPr lang="en-GB" sz="1200" dirty="0">
              <a:solidFill>
                <a:srgbClr val="353B45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GB" sz="1200" b="1" dirty="0">
                <a:solidFill>
                  <a:srgbClr val="353B45"/>
                </a:solidFill>
              </a:rPr>
              <a:t>CW2 (Weeks 8–12):</a:t>
            </a:r>
            <a:r>
              <a:rPr lang="en-GB" sz="1200" dirty="0">
                <a:solidFill>
                  <a:srgbClr val="353B45"/>
                </a:solidFill>
              </a:rPr>
              <a:t> one continuous project in your chosen lane (AI/Data Science, Cyber Security, or IT), grown every week and ending in a deployed Streamlit application with a public URL.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4F2778-39F6-264E-9899-632A6CB5AD73}"/>
              </a:ext>
            </a:extLst>
          </p:cNvPr>
          <p:cNvSpPr txBox="1"/>
          <p:nvPr/>
        </p:nvSpPr>
        <p:spPr>
          <a:xfrm>
            <a:off x="457200" y="4191000"/>
            <a:ext cx="8229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GB" sz="1100" i="1" dirty="0">
                <a:solidFill>
                  <a:srgbClr val="6E6A63"/>
                </a:solidFill>
              </a:rPr>
              <a:t>Exact weighting and submission details are set out in the CW1 and CW2 specifications.</a:t>
            </a:r>
          </a:p>
        </p:txBody>
      </p:sp>
    </p:spTree>
    <p:extLst>
      <p:ext uri="{BB962C8B-B14F-4D97-AF65-F5344CB8AC3E}">
        <p14:creationId xmlns:p14="http://schemas.microsoft.com/office/powerpoint/2010/main" val="738438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96012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/>
            <a:endParaRPr lang="en-GB" sz="3200" b="1" dirty="0">
              <a:solidFill>
                <a:srgbClr val="1A2233"/>
              </a:solidFill>
              <a:latin typeface="Georgia"/>
            </a:endParaRPr>
          </a:p>
          <a:p>
            <a:pPr algn="l"/>
            <a:r>
              <a:rPr lang="en-GB" sz="3200" b="1" dirty="0">
                <a:solidFill>
                  <a:srgbClr val="1A2233"/>
                </a:solidFill>
                <a:latin typeface="Georgia"/>
              </a:rPr>
              <a:t>Suggestions</a:t>
            </a:r>
            <a:endParaRPr sz="3200" b="1" dirty="0">
              <a:solidFill>
                <a:srgbClr val="1A2233"/>
              </a:solidFill>
              <a:latin typeface="Georgia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457200" y="1264920"/>
            <a:ext cx="8229600" cy="0"/>
          </a:xfrm>
          <a:prstGeom prst="line">
            <a:avLst/>
          </a:prstGeom>
          <a:ln w="19050" cap="flat" cmpd="sng" algn="ctr">
            <a:solidFill>
              <a:srgbClr val="2E5C8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574800"/>
            <a:ext cx="3911600" cy="273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71450" indent="-171450">
              <a:buFont typeface="Arial"/>
              <a:buChar char="•"/>
            </a:pPr>
            <a:r>
              <a:rPr lang="en-GB" sz="1200" b="1" dirty="0">
                <a:solidFill>
                  <a:srgbClr val="353B45"/>
                </a:solidFill>
              </a:rPr>
              <a:t>Bring your laptop to every teaching and lab session.</a:t>
            </a:r>
            <a:r>
              <a:rPr lang="en-GB" sz="1200" dirty="0">
                <a:solidFill>
                  <a:srgbClr val="353B45"/>
                </a:solidFill>
              </a:rPr>
              <a:t> If needed, you can borrow a Windows laptop from the University.</a:t>
            </a:r>
          </a:p>
          <a:p>
            <a:pPr marL="171450" indent="-171450">
              <a:buFont typeface="Arial"/>
              <a:buChar char="•"/>
            </a:pPr>
            <a:r>
              <a:rPr lang="en-GB" sz="1200" b="1" dirty="0">
                <a:solidFill>
                  <a:srgbClr val="353B45"/>
                </a:solidFill>
              </a:rPr>
              <a:t>Set up your software before the module begins.</a:t>
            </a:r>
            <a:r>
              <a:rPr lang="en-GB" sz="1200" dirty="0">
                <a:solidFill>
                  <a:srgbClr val="353B45"/>
                </a:solidFill>
              </a:rPr>
              <a:t> Make sure Python, VS Code, Git and GitHub are installed and working.</a:t>
            </a:r>
          </a:p>
          <a:p>
            <a:pPr marL="171450" indent="-171450">
              <a:buFont typeface="Arial"/>
              <a:buChar char="•"/>
            </a:pPr>
            <a:r>
              <a:rPr lang="en-GB" sz="1200" b="1" dirty="0">
                <a:solidFill>
                  <a:srgbClr val="353B45"/>
                </a:solidFill>
              </a:rPr>
              <a:t>Check MyLearning every week.</a:t>
            </a:r>
            <a:r>
              <a:rPr lang="en-GB" sz="1200" dirty="0">
                <a:solidFill>
                  <a:srgbClr val="353B45"/>
                </a:solidFill>
              </a:rPr>
              <a:t> Weekly materials are released alongside the relevant teaching week, and you can use the module handbook and recommended resources to read ahead.</a:t>
            </a:r>
          </a:p>
          <a:p>
            <a:pPr marL="171450" indent="-171450">
              <a:buFont typeface="Arial"/>
              <a:buChar char="•"/>
            </a:pPr>
            <a:r>
              <a:rPr lang="en-GB" sz="1200" b="1" dirty="0">
                <a:solidFill>
                  <a:srgbClr val="353B45"/>
                </a:solidFill>
              </a:rPr>
              <a:t>Attend teaching and lab sessions regularly.</a:t>
            </a:r>
            <a:r>
              <a:rPr lang="en-GB" sz="1200" dirty="0">
                <a:solidFill>
                  <a:srgbClr val="353B45"/>
                </a:solidFill>
              </a:rPr>
              <a:t> Aim for </a:t>
            </a:r>
            <a:r>
              <a:rPr lang="en-GB" sz="1200" b="1" dirty="0">
                <a:solidFill>
                  <a:srgbClr val="353B45"/>
                </a:solidFill>
              </a:rPr>
              <a:t>100% attendance</a:t>
            </a:r>
            <a:r>
              <a:rPr lang="en-GB" sz="1200" dirty="0">
                <a:solidFill>
                  <a:srgbClr val="353B45"/>
                </a:solidFill>
              </a:rPr>
              <a:t> — programming is learned through regular practice.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3D829-8F8F-9740-B82B-5E1DFF0EB1CA}"/>
              </a:ext>
            </a:extLst>
          </p:cNvPr>
          <p:cNvSpPr txBox="1"/>
          <p:nvPr/>
        </p:nvSpPr>
        <p:spPr>
          <a:xfrm>
            <a:off x="4775200" y="1574800"/>
            <a:ext cx="3911600" cy="2730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71450" indent="-171450">
              <a:buFont typeface="Arial"/>
              <a:buChar char="•"/>
            </a:pPr>
            <a:r>
              <a:rPr lang="en-GB" sz="1200" b="1" dirty="0">
                <a:solidFill>
                  <a:srgbClr val="353B45"/>
                </a:solidFill>
              </a:rPr>
              <a:t>Use the online drop-in sessions.</a:t>
            </a:r>
            <a:r>
              <a:rPr lang="en-GB" sz="1200" dirty="0">
                <a:solidFill>
                  <a:srgbClr val="353B45"/>
                </a:solidFill>
              </a:rPr>
              <a:t> Bring questions, problems or code you would like help understanding.</a:t>
            </a:r>
          </a:p>
          <a:p>
            <a:pPr marL="171450" indent="-171450">
              <a:buFont typeface="Arial"/>
              <a:buChar char="•"/>
            </a:pPr>
            <a:r>
              <a:rPr lang="en-GB" sz="1200" b="1" dirty="0">
                <a:solidFill>
                  <a:srgbClr val="353B45"/>
                </a:solidFill>
              </a:rPr>
              <a:t>Complete the weekly lab tasks.</a:t>
            </a:r>
            <a:r>
              <a:rPr lang="en-GB" sz="1200" dirty="0">
                <a:solidFill>
                  <a:srgbClr val="353B45"/>
                </a:solidFill>
              </a:rPr>
              <a:t> The labs are an essential part of the module and will help you prepare for your assessments.</a:t>
            </a:r>
          </a:p>
          <a:p>
            <a:pPr marL="171450" indent="-171450">
              <a:buFont typeface="Arial"/>
              <a:buChar char="•"/>
            </a:pPr>
            <a:r>
              <a:rPr lang="en-GB" sz="1200" b="1" dirty="0">
                <a:solidFill>
                  <a:srgbClr val="353B45"/>
                </a:solidFill>
              </a:rPr>
              <a:t>Learn to research solutions.</a:t>
            </a:r>
            <a:r>
              <a:rPr lang="en-GB" sz="1200" dirty="0">
                <a:solidFill>
                  <a:srgbClr val="353B45"/>
                </a:solidFill>
              </a:rPr>
              <a:t> Use the Python documentation, recommended books and reliable online resources, and ask your tutors when you are unsure.</a:t>
            </a:r>
          </a:p>
          <a:p>
            <a:pPr marL="171450" indent="-171450">
              <a:buFont typeface="Arial"/>
              <a:buChar char="•"/>
            </a:pPr>
            <a:r>
              <a:rPr lang="en-GB" sz="1200" b="1" dirty="0">
                <a:solidFill>
                  <a:srgbClr val="353B45"/>
                </a:solidFill>
              </a:rPr>
              <a:t>Practise throughout the week.</a:t>
            </a:r>
            <a:r>
              <a:rPr lang="en-GB" sz="1200" dirty="0">
                <a:solidFill>
                  <a:srgbClr val="353B45"/>
                </a:solidFill>
              </a:rPr>
              <a:t> Do not leave programming until the assessment deadline.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D573C4-A798-6442-BCB1-2419199AFED7}"/>
              </a:ext>
            </a:extLst>
          </p:cNvPr>
          <p:cNvSpPr txBox="1"/>
          <p:nvPr/>
        </p:nvSpPr>
        <p:spPr>
          <a:xfrm>
            <a:off x="457200" y="4216400"/>
            <a:ext cx="8229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GB" sz="1200" b="1" dirty="0">
                <a:solidFill>
                  <a:srgbClr val="2E5C8A"/>
                </a:solidFill>
              </a:rPr>
              <a:t>Attend → Practise → Make mistakes → Ask questions → Improve</a:t>
            </a:r>
          </a:p>
        </p:txBody>
      </p:sp>
    </p:spTree>
    <p:extLst>
      <p:ext uri="{BB962C8B-B14F-4D97-AF65-F5344CB8AC3E}">
        <p14:creationId xmlns:p14="http://schemas.microsoft.com/office/powerpoint/2010/main" val="1901940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A223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900000"/>
            <a:ext cx="82296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3600" b="1" dirty="0">
                <a:solidFill>
                  <a:srgbClr val="F7F4EC"/>
                </a:solidFill>
                <a:latin typeface="Georgia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579402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9070994419]">
  <a:themeElements>
    <a:clrScheme name="Office">
      <a:dk1>
        <a:srgbClr val="1A2233"/>
      </a:dk1>
      <a:lt1>
        <a:srgbClr val="FBFAF7"/>
      </a:lt1>
      <a:dk2>
        <a:srgbClr val="2E4057"/>
      </a:dk2>
      <a:lt2>
        <a:srgbClr val="E7E2D8"/>
      </a:lt2>
      <a:accent1>
        <a:srgbClr val="2E5C8A"/>
      </a:accent1>
      <a:accent2>
        <a:srgbClr val="4A7C59"/>
      </a:accent2>
      <a:accent3>
        <a:srgbClr val="8C6239"/>
      </a:accent3>
      <a:accent4>
        <a:srgbClr val="5B7A99"/>
      </a:accent4>
      <a:accent5>
        <a:srgbClr val="9B4A3C"/>
      </a:accent5>
      <a:accent6>
        <a:srgbClr val="6E6A63"/>
      </a:accent6>
      <a:hlink>
        <a:srgbClr val="2E5C8A"/>
      </a:hlink>
      <a:folHlink>
        <a:srgbClr val="6E6A63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590F08D-C3D9-3B44-8CF7-5F28A29ACD60}">
  <we:reference id="wa200010001" version="1.0.0.1" store="en-GB" storeType="OMEX"/>
  <we:alternateReferences>
    <we:reference id="WA200010001" version="1.0.0.1" store="WA200010001" storeType="OMEX"/>
  </we:alternateReferences>
  <we:properties>
    <we:property name="claude.fileId" value="&quot;5de41589-4de1-459e-9292-774d2a2be21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1943</Words>
  <Application>Microsoft Macintosh PowerPoint</Application>
  <PresentationFormat>On-screen Show (16:9)</PresentationFormat>
  <Paragraphs>176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Courier New</vt:lpstr>
      <vt:lpstr>Georgia</vt:lpstr>
      <vt:lpstr>Office Theme [1789070994419]</vt:lpstr>
      <vt:lpstr>PowerPoint Presentation</vt:lpstr>
      <vt:lpstr> Learning outcomes: knowledge </vt:lpstr>
      <vt:lpstr> Learning outcomes: skills </vt:lpstr>
      <vt:lpstr>Syllabus</vt:lpstr>
      <vt:lpstr>CST1510 is a 30-credit module </vt:lpstr>
      <vt:lpstr>Teaching team </vt:lpstr>
      <vt:lpstr>Your weekly routine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Anna Wieclaw</cp:lastModifiedBy>
  <cp:revision>15</cp:revision>
  <dcterms:created xsi:type="dcterms:W3CDTF">2013-01-27T09:14:16Z</dcterms:created>
  <dcterms:modified xsi:type="dcterms:W3CDTF">2026-09-11T11:28:32Z</dcterms:modified>
  <cp:category/>
</cp:coreProperties>
</file>